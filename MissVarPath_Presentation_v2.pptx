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4-class macro-F1</c:v>
                </c:pt>
              </c:strCache>
            </c:strRef>
          </c:tx>
          <c:spPr>
            <a:solidFill>
              <a:srgbClr val="202020"/>
            </a:solidFill>
            <a:ln w="9525">
              <a:solidFill>
                <a:srgbClr val="202020"/>
              </a:solidFill>
            </a:ln>
          </c:spPr>
          <c:invertIfNegative val="1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>
                    <a:solidFill>
                      <a:srgbClr val="202020"/>
                    </a:solidFill>
                    <a:latin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KNN</c:v>
                </c:pt>
                <c:pt idx="1">
                  <c:v>RidgeClassifier</c:v>
                </c:pt>
                <c:pt idx="2">
                  <c:v>LDA</c:v>
                </c:pt>
                <c:pt idx="3">
                  <c:v>SGDClassifier</c:v>
                </c:pt>
                <c:pt idx="4">
                  <c:v>DecisionTree</c:v>
                </c:pt>
                <c:pt idx="5">
                  <c:v>LinearSVC</c:v>
                </c:pt>
                <c:pt idx="6">
                  <c:v>HistGradientBoosting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0.65979097452510194</c:v>
                </c:pt>
                <c:pt idx="1">
                  <c:v>0.70032322934386282</c:v>
                </c:pt>
                <c:pt idx="2">
                  <c:v>0.70219901594954903</c:v>
                </c:pt>
                <c:pt idx="3">
                  <c:v>0.71820849606046844</c:v>
                </c:pt>
                <c:pt idx="4">
                  <c:v>0.75140900678597822</c:v>
                </c:pt>
                <c:pt idx="5">
                  <c:v>0.75493355272700602</c:v>
                </c:pt>
                <c:pt idx="6">
                  <c:v>0.79503926169518224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202020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1AFF-4212-BF40-D78A32B9881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solidFill>
                  <a:srgbClr val="404040"/>
                </a:solidFill>
                <a:latin typeface="Calibr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0.85"/>
          <c:min val="0.5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solidFill>
                  <a:srgbClr val="404040"/>
                </a:solidFill>
                <a:latin typeface="Calibri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Per-class F1 (5-class HistGB)</c:v>
                </c:pt>
              </c:strCache>
            </c:strRef>
          </c:tx>
          <c:spPr>
            <a:solidFill>
              <a:srgbClr val="202020"/>
            </a:solidFill>
            <a:ln w="9525">
              <a:solidFill>
                <a:srgbClr val="202020"/>
              </a:solidFill>
            </a:ln>
          </c:spPr>
          <c:invertIfNegative val="1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>
                    <a:solidFill>
                      <a:srgbClr val="202020"/>
                    </a:solidFill>
                    <a:latin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Benign</c:v>
                </c:pt>
                <c:pt idx="1">
                  <c:v>Likely benign</c:v>
                </c:pt>
                <c:pt idx="2">
                  <c:v>Likely pathogenic</c:v>
                </c:pt>
                <c:pt idx="3">
                  <c:v>Pathogenic</c:v>
                </c:pt>
                <c:pt idx="4">
                  <c:v>VUS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0.92900000000000005</c:v>
                </c:pt>
                <c:pt idx="1">
                  <c:v>0.89400000000000002</c:v>
                </c:pt>
                <c:pt idx="2">
                  <c:v>0.622</c:v>
                </c:pt>
                <c:pt idx="3">
                  <c:v>0.64600000000000002</c:v>
                </c:pt>
                <c:pt idx="4">
                  <c:v>0.90100000000000002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202020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009C-4822-BA55-53EDC43CA19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solidFill>
                  <a:srgbClr val="404040"/>
                </a:solidFill>
                <a:latin typeface="Calibr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0.5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>
                <a:solidFill>
                  <a:srgbClr val="404040"/>
                </a:solidFill>
                <a:latin typeface="Calibri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(208 features)</c:v>
                </c:pt>
              </c:strCache>
            </c:strRef>
          </c:tx>
          <c:spPr>
            <a:solidFill>
              <a:srgbClr val="000000"/>
            </a:solidFill>
            <a:ln w="9525">
              <a:solidFill>
                <a:srgbClr val="202020"/>
              </a:solidFill>
            </a:ln>
          </c:spPr>
          <c:invertIfNegative val="1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solidFill>
                      <a:srgbClr val="404040"/>
                    </a:solidFill>
                    <a:latin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2-class</c:v>
                </c:pt>
                <c:pt idx="1">
                  <c:v>3-class</c:v>
                </c:pt>
                <c:pt idx="2">
                  <c:v>4-class</c:v>
                </c:pt>
                <c:pt idx="3">
                  <c:v>5-class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0.98719999999999997</c:v>
                </c:pt>
                <c:pt idx="1">
                  <c:v>0.94589999999999996</c:v>
                </c:pt>
                <c:pt idx="2">
                  <c:v>0.79500000000000004</c:v>
                </c:pt>
                <c:pt idx="3">
                  <c:v>0.7984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202020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C89B-4ABD-85FA-F1DDA491983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Lean B (113 features)</c:v>
                </c:pt>
              </c:strCache>
            </c:strRef>
          </c:tx>
          <c:spPr>
            <a:solidFill>
              <a:srgbClr val="BFBFBF"/>
            </a:solidFill>
            <a:ln w="9525">
              <a:solidFill>
                <a:srgbClr val="202020"/>
              </a:solidFill>
            </a:ln>
          </c:spPr>
          <c:invertIfNegative val="1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solidFill>
                      <a:srgbClr val="404040"/>
                    </a:solidFill>
                    <a:latin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2-class</c:v>
                </c:pt>
                <c:pt idx="1">
                  <c:v>3-class</c:v>
                </c:pt>
                <c:pt idx="2">
                  <c:v>4-class</c:v>
                </c:pt>
                <c:pt idx="3">
                  <c:v>5-class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0.98629999999999995</c:v>
                </c:pt>
                <c:pt idx="1">
                  <c:v>0.93859999999999999</c:v>
                </c:pt>
                <c:pt idx="2">
                  <c:v>0.79</c:v>
                </c:pt>
                <c:pt idx="3">
                  <c:v>0.78669999999999995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9525">
                    <a:solidFill>
                      <a:srgbClr val="202020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C89B-4ABD-85FA-F1DDA491983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300">
                <a:solidFill>
                  <a:srgbClr val="404040"/>
                </a:solidFill>
                <a:latin typeface="Calibr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.05"/>
          <c:min val="0.5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300">
                <a:solidFill>
                  <a:srgbClr val="404040"/>
                </a:solidFill>
                <a:latin typeface="Calibri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400">
              <a:solidFill>
                <a:srgbClr val="404040"/>
              </a:solidFill>
              <a:latin typeface="Calibri"/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drive/1ceyQjc73Gsm2bfclc7PznBS_dQ0EB74a#scrollTo=cell-0001" TargetMode="External"/><Relationship Id="rId2" Type="http://schemas.openxmlformats.org/officeDocument/2006/relationships/hyperlink" Target="https://colab.research.google.com/drive/1Mk_cXAjRAKlRVjWplSdtV9DCR-t0P0iU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rive.google.com/drive/folders/1Sy5dnzYGiwCGXYRMXiCGnyJt04SuOphv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0"/>
            <a:ext cx="2743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210312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707070"/>
                </a:solidFill>
                <a:latin typeface="Calibri"/>
              </a:rPr>
              <a:t>CMP682 — Final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100584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Georgia"/>
              </a:rPr>
              <a:t>MissVARPath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1">
                <a:solidFill>
                  <a:srgbClr val="202020"/>
                </a:solidFill>
                <a:latin typeface="Georgia"/>
              </a:rPr>
              <a:t>Missense Variant Pathogenicity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2120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  <a:latin typeface="Calibri"/>
              </a:rPr>
              <a:t>Doruk Topcu  ·  Alihan Sağöz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6692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707070"/>
                </a:solidFill>
                <a:latin typeface="Calibri"/>
              </a:rPr>
              <a:t>Hacettepe University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00000"/>
                </a:solidFill>
                <a:latin typeface="Georgia"/>
              </a:rPr>
              <a:t>Three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404040"/>
                </a:solidFill>
                <a:latin typeface="Calibri"/>
              </a:rPr>
              <a:t>Every missense variant goes through a battery of in-silico predictors — PolyPhen-2, SIFT, REVEL, CADD, AlphaMissense, DITTO. Each disagrees with the others; most were trained on overlapping ClinVar data — the same database we use to label our targets.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 i="0">
                <a:solidFill>
                  <a:srgbClr val="000000"/>
                </a:solidFill>
                <a:latin typeface="Georgia"/>
              </a:rPr>
              <a:t>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926080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0" i="0">
                <a:solidFill>
                  <a:srgbClr val="202020"/>
                </a:solidFill>
                <a:latin typeface="Calibri"/>
              </a:rPr>
              <a:t>Can a meta-classifier do better than any single predictor by combining them?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 i="0">
                <a:solidFill>
                  <a:srgbClr val="000000"/>
                </a:solidFill>
                <a:latin typeface="Georgia"/>
              </a:rPr>
              <a:t>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4114800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0" i="0">
                <a:solidFill>
                  <a:srgbClr val="202020"/>
                </a:solidFill>
                <a:latin typeface="Calibri"/>
              </a:rPr>
              <a:t>How much of any improvement is data-circularity — predictors trained on ClinVar, evaluated on ClinVar?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12064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 i="0">
                <a:solidFill>
                  <a:srgbClr val="000000"/>
                </a:solidFill>
                <a:latin typeface="Georgia"/>
              </a:rPr>
              <a:t>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5303520"/>
            <a:ext cx="10332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0" i="0">
                <a:solidFill>
                  <a:srgbClr val="202020"/>
                </a:solidFill>
                <a:latin typeface="Calibri"/>
              </a:rPr>
              <a:t>Can we predict pathogenicity from raw data alone — without using any pre-existing predictor's score?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Calibri"/>
              </a:rPr>
              <a:t>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82880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00000"/>
                </a:solidFill>
                <a:latin typeface="Georgia"/>
              </a:rP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6770"/>
            <a:ext cx="5943600" cy="5303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6800" b="1" i="0" dirty="0">
                <a:solidFill>
                  <a:srgbClr val="000000"/>
                </a:solidFill>
                <a:latin typeface="Georgia"/>
              </a:rPr>
              <a:t>21,872</a:t>
            </a:r>
          </a:p>
          <a:p>
            <a:pPr algn="l">
              <a:lnSpc>
                <a:spcPct val="115000"/>
              </a:lnSpc>
              <a:spcAft>
                <a:spcPts val="2200"/>
              </a:spcAft>
            </a:pPr>
            <a:r>
              <a:rPr sz="1500" b="0" i="0" dirty="0" err="1">
                <a:solidFill>
                  <a:srgbClr val="707070"/>
                </a:solidFill>
                <a:latin typeface="Calibri"/>
              </a:rPr>
              <a:t>ClinVar</a:t>
            </a:r>
            <a:r>
              <a:rPr sz="1500" b="0" i="0" dirty="0">
                <a:solidFill>
                  <a:srgbClr val="707070"/>
                </a:solidFill>
                <a:latin typeface="Calibri"/>
              </a:rPr>
              <a:t> / </a:t>
            </a:r>
            <a:r>
              <a:rPr sz="1500" b="0" i="0" dirty="0" err="1">
                <a:solidFill>
                  <a:srgbClr val="707070"/>
                </a:solidFill>
                <a:latin typeface="Calibri"/>
              </a:rPr>
              <a:t>OpenCRAVAT</a:t>
            </a:r>
            <a:r>
              <a:rPr sz="1500" b="0" i="0" dirty="0">
                <a:solidFill>
                  <a:srgbClr val="707070"/>
                </a:solidFill>
                <a:latin typeface="Calibri"/>
              </a:rPr>
              <a:t> missense variants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200" b="1" i="0" dirty="0">
                <a:solidFill>
                  <a:srgbClr val="000000"/>
                </a:solidFill>
                <a:latin typeface="Georgia"/>
              </a:rPr>
              <a:t>5,468  ×  4</a:t>
            </a:r>
          </a:p>
          <a:p>
            <a:pPr algn="l">
              <a:lnSpc>
                <a:spcPct val="115000"/>
              </a:lnSpc>
              <a:spcAft>
                <a:spcPts val="2200"/>
              </a:spcAft>
            </a:pPr>
            <a:r>
              <a:rPr sz="1500" b="0" i="0" dirty="0">
                <a:solidFill>
                  <a:srgbClr val="707070"/>
                </a:solidFill>
                <a:latin typeface="Calibri"/>
              </a:rPr>
              <a:t>perfectly balanced 4-class — Benign / Likely-benign / Likely-pathogenic / Pathogenic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200" b="1" i="0" dirty="0">
                <a:solidFill>
                  <a:srgbClr val="000000"/>
                </a:solidFill>
                <a:latin typeface="Georgia"/>
              </a:rPr>
              <a:t>777  →  208</a:t>
            </a:r>
          </a:p>
          <a:p>
            <a:pPr algn="l">
              <a:lnSpc>
                <a:spcPct val="115000"/>
              </a:lnSpc>
              <a:spcAft>
                <a:spcPts val="2200"/>
              </a:spcAft>
            </a:pPr>
            <a:r>
              <a:rPr sz="1500" b="0" i="0" dirty="0">
                <a:solidFill>
                  <a:srgbClr val="707070"/>
                </a:solidFill>
                <a:latin typeface="Calibri"/>
              </a:rPr>
              <a:t>raw schema  →  numerical features after preprocessing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4200" b="1" i="0" dirty="0">
                <a:solidFill>
                  <a:srgbClr val="000000"/>
                </a:solidFill>
                <a:latin typeface="Georgia"/>
              </a:rPr>
              <a:t>5,428</a:t>
            </a:r>
          </a:p>
          <a:p>
            <a:pPr algn="l">
              <a:lnSpc>
                <a:spcPct val="115000"/>
              </a:lnSpc>
            </a:pPr>
            <a:r>
              <a:rPr sz="1500" b="0" i="0" dirty="0">
                <a:solidFill>
                  <a:srgbClr val="707070"/>
                </a:solidFill>
                <a:latin typeface="Calibri"/>
              </a:rPr>
              <a:t>strict-VUS rows in the curated pro-set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82677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707070"/>
                </a:solidFill>
                <a:latin typeface="Calibri"/>
              </a:rPr>
              <a:t>Four task definitions used in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236345"/>
            <a:ext cx="4937760" cy="4754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 i="0" dirty="0">
                <a:solidFill>
                  <a:srgbClr val="000000"/>
                </a:solidFill>
                <a:latin typeface="Georgia"/>
              </a:rPr>
              <a:t>4-class</a:t>
            </a:r>
          </a:p>
          <a:p>
            <a:pPr algn="l">
              <a:lnSpc>
                <a:spcPct val="115000"/>
              </a:lnSpc>
              <a:spcAft>
                <a:spcPts val="2200"/>
              </a:spcAft>
            </a:pPr>
            <a:r>
              <a:rPr sz="1400" b="0" i="0" dirty="0">
                <a:solidFill>
                  <a:srgbClr val="707070"/>
                </a:solidFill>
                <a:latin typeface="Calibri"/>
              </a:rPr>
              <a:t>original </a:t>
            </a:r>
            <a:r>
              <a:rPr sz="1400" b="0" i="0" dirty="0" err="1">
                <a:solidFill>
                  <a:srgbClr val="707070"/>
                </a:solidFill>
                <a:latin typeface="Calibri"/>
              </a:rPr>
              <a:t>ClinVar</a:t>
            </a:r>
            <a:r>
              <a:rPr sz="1400" b="0" i="0" dirty="0">
                <a:solidFill>
                  <a:srgbClr val="707070"/>
                </a:solidFill>
                <a:latin typeface="Calibri"/>
              </a:rPr>
              <a:t> label space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 i="0" dirty="0">
                <a:solidFill>
                  <a:srgbClr val="000000"/>
                </a:solidFill>
                <a:latin typeface="Georgia"/>
              </a:rPr>
              <a:t>2-class</a:t>
            </a:r>
          </a:p>
          <a:p>
            <a:pPr algn="l">
              <a:lnSpc>
                <a:spcPct val="115000"/>
              </a:lnSpc>
              <a:spcAft>
                <a:spcPts val="2200"/>
              </a:spcAft>
            </a:pPr>
            <a:r>
              <a:rPr sz="1400" b="0" i="0" dirty="0">
                <a:solidFill>
                  <a:srgbClr val="707070"/>
                </a:solidFill>
                <a:latin typeface="Calibri"/>
              </a:rPr>
              <a:t>Likely-* collapsed into definitive labels → 10,936 / 10,936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 i="0" dirty="0">
                <a:solidFill>
                  <a:srgbClr val="000000"/>
                </a:solidFill>
                <a:latin typeface="Georgia"/>
              </a:rPr>
              <a:t>3-class (with VUS)</a:t>
            </a:r>
          </a:p>
          <a:p>
            <a:pPr algn="l">
              <a:lnSpc>
                <a:spcPct val="115000"/>
              </a:lnSpc>
              <a:spcAft>
                <a:spcPts val="2200"/>
              </a:spcAft>
            </a:pPr>
            <a:r>
              <a:rPr sz="1400" b="0" i="0" dirty="0">
                <a:solidFill>
                  <a:srgbClr val="707070"/>
                </a:solidFill>
                <a:latin typeface="Calibri"/>
              </a:rPr>
              <a:t>Benign-side / Pathogenic-side / VUS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200" b="1" i="0" dirty="0">
                <a:solidFill>
                  <a:srgbClr val="000000"/>
                </a:solidFill>
                <a:latin typeface="Georgia"/>
              </a:rPr>
              <a:t>5-class (with VUS)</a:t>
            </a:r>
          </a:p>
          <a:p>
            <a:pPr algn="l">
              <a:lnSpc>
                <a:spcPct val="115000"/>
              </a:lnSpc>
            </a:pPr>
            <a:r>
              <a:rPr sz="1400" b="0" i="0" dirty="0">
                <a:solidFill>
                  <a:srgbClr val="707070"/>
                </a:solidFill>
                <a:latin typeface="Calibri"/>
              </a:rPr>
              <a:t>all four </a:t>
            </a:r>
            <a:r>
              <a:rPr sz="1400" b="0" i="0" dirty="0" err="1">
                <a:solidFill>
                  <a:srgbClr val="707070"/>
                </a:solidFill>
                <a:latin typeface="Calibri"/>
              </a:rPr>
              <a:t>ClinVar</a:t>
            </a:r>
            <a:r>
              <a:rPr sz="1400" b="0" i="0" dirty="0">
                <a:solidFill>
                  <a:srgbClr val="707070"/>
                </a:solidFill>
                <a:latin typeface="Calibri"/>
              </a:rPr>
              <a:t> labels + VUS — essentially balanced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Calibri"/>
              </a:rPr>
              <a:t>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00000"/>
                </a:solidFill>
                <a:latin typeface="Georgia"/>
              </a:rPr>
              <a:t>Label balance — by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707070"/>
                </a:solidFill>
                <a:latin typeface="Calibri"/>
              </a:rPr>
              <a:t>5,468 rows per ClinVar class in the 4-class space; 10,936 / 10,936 in the 2-class collapse. Any class-imbalance effect is gone by construction.</a:t>
            </a:r>
          </a:p>
        </p:txBody>
      </p:sp>
      <p:pic>
        <p:nvPicPr>
          <p:cNvPr id="4" name="Picture 3" descr="label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10332720" cy="37573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Calibri"/>
              </a:rPr>
              <a:t>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00000"/>
                </a:solidFill>
                <a:latin typeface="Georgia"/>
              </a:rPr>
              <a:t>Missingness across the 777-column raw 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707070"/>
                </a:solidFill>
                <a:latin typeface="Calibri"/>
              </a:rPr>
              <a:t>Per-column missing fraction. Everything above the 50% threshold is dropped during preprocessing — 134 columns lost that way. 208 numerical features survive.</a:t>
            </a:r>
          </a:p>
        </p:txBody>
      </p:sp>
      <p:pic>
        <p:nvPicPr>
          <p:cNvPr id="4" name="Picture 3" descr="missingness_hist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20" y="1828800"/>
            <a:ext cx="841248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Calibri"/>
              </a:rPr>
              <a:t>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20650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 dirty="0">
                <a:solidFill>
                  <a:srgbClr val="000000"/>
                </a:solidFill>
                <a:latin typeface="Georgia"/>
              </a:rPr>
              <a:t>Do the predictor scores actually separate classes?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47000" y="1097280"/>
            <a:ext cx="3865880" cy="10192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 dirty="0">
                <a:solidFill>
                  <a:srgbClr val="707070"/>
                </a:solidFill>
                <a:latin typeface="Calibri"/>
              </a:rPr>
              <a:t>Boxplots of headline VEP scores stratified by the 4-class label. DITTO, </a:t>
            </a:r>
            <a:r>
              <a:rPr sz="1300" b="0" i="1" dirty="0" err="1">
                <a:solidFill>
                  <a:srgbClr val="707070"/>
                </a:solidFill>
                <a:latin typeface="Calibri"/>
              </a:rPr>
              <a:t>MetaRNN</a:t>
            </a:r>
            <a:r>
              <a:rPr sz="1300" b="0" i="1" dirty="0">
                <a:solidFill>
                  <a:srgbClr val="707070"/>
                </a:solidFill>
                <a:latin typeface="Calibri"/>
              </a:rPr>
              <a:t>, REVEL, </a:t>
            </a:r>
            <a:r>
              <a:rPr sz="1300" b="0" i="1" dirty="0" err="1">
                <a:solidFill>
                  <a:srgbClr val="707070"/>
                </a:solidFill>
                <a:latin typeface="Calibri"/>
              </a:rPr>
              <a:t>AlphaMissense</a:t>
            </a:r>
            <a:r>
              <a:rPr sz="1300" b="0" i="1" dirty="0">
                <a:solidFill>
                  <a:srgbClr val="707070"/>
                </a:solidFill>
                <a:latin typeface="Calibri"/>
              </a:rPr>
              <a:t> all separate cleanly; </a:t>
            </a:r>
            <a:r>
              <a:rPr sz="1300" b="0" i="1" dirty="0" err="1">
                <a:solidFill>
                  <a:srgbClr val="707070"/>
                </a:solidFill>
                <a:latin typeface="Calibri"/>
              </a:rPr>
              <a:t>gnomAD</a:t>
            </a:r>
            <a:r>
              <a:rPr sz="1300" b="0" i="1" dirty="0">
                <a:solidFill>
                  <a:srgbClr val="707070"/>
                </a:solidFill>
                <a:latin typeface="Calibri"/>
              </a:rPr>
              <a:t> AF runs the other way — high frequency means benign (the ACMG BS1 rule).</a:t>
            </a:r>
          </a:p>
        </p:txBody>
      </p:sp>
      <p:pic>
        <p:nvPicPr>
          <p:cNvPr id="4" name="Picture 3" descr="key_vep_scores_by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" y="822960"/>
            <a:ext cx="7505700" cy="6004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Calibri"/>
              </a:rPr>
              <a:t>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00000"/>
                </a:solidFill>
                <a:latin typeface="Georgia"/>
              </a:rPr>
              <a:t>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707070"/>
                </a:solidFill>
                <a:latin typeface="Calibri"/>
              </a:rPr>
              <a:t>Model suite — 11 estimators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48640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202020"/>
                </a:solidFill>
                <a:latin typeface="Calibri"/>
              </a:rPr>
              <a:t>Classical / linear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 i="0">
                <a:solidFill>
                  <a:srgbClr val="404040"/>
                </a:solidFill>
                <a:latin typeface="Calibri"/>
              </a:rPr>
              <a:t>KNN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 i="0">
                <a:solidFill>
                  <a:srgbClr val="404040"/>
                </a:solidFill>
                <a:latin typeface="Calibri"/>
              </a:rPr>
              <a:t>NearestCentroid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 i="0">
                <a:solidFill>
                  <a:srgbClr val="404040"/>
                </a:solidFill>
                <a:latin typeface="Calibri"/>
              </a:rPr>
              <a:t>CosineSimilarity (custom)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 i="0">
                <a:solidFill>
                  <a:srgbClr val="404040"/>
                </a:solidFill>
                <a:latin typeface="Calibri"/>
              </a:rPr>
              <a:t>DecisionTree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 i="0">
                <a:solidFill>
                  <a:srgbClr val="404040"/>
                </a:solidFill>
                <a:latin typeface="Calibri"/>
              </a:rPr>
              <a:t>LDA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 i="0">
                <a:solidFill>
                  <a:srgbClr val="404040"/>
                </a:solidFill>
                <a:latin typeface="Calibri"/>
              </a:rPr>
              <a:t>QDA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 i="0">
                <a:solidFill>
                  <a:srgbClr val="404040"/>
                </a:solidFill>
                <a:latin typeface="Calibri"/>
              </a:rPr>
              <a:t>LinearSVC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 i="0">
                <a:solidFill>
                  <a:srgbClr val="404040"/>
                </a:solidFill>
                <a:latin typeface="Calibri"/>
              </a:rPr>
              <a:t>RidgeClassifier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 i="0">
                <a:solidFill>
                  <a:srgbClr val="404040"/>
                </a:solidFill>
                <a:latin typeface="Calibri"/>
              </a:rPr>
              <a:t>SGDClassifier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500" b="0" i="0">
                <a:solidFill>
                  <a:srgbClr val="000000"/>
                </a:solidFill>
                <a:latin typeface="Calibri"/>
              </a:rPr>
              <a:t> 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 i="0">
                <a:solidFill>
                  <a:srgbClr val="202020"/>
                </a:solidFill>
                <a:latin typeface="Calibri"/>
              </a:rPr>
              <a:t>Ensembles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 i="0">
                <a:solidFill>
                  <a:srgbClr val="404040"/>
                </a:solidFill>
                <a:latin typeface="Calibri"/>
              </a:rPr>
              <a:t>AdaBoost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500" b="0" i="0">
                <a:solidFill>
                  <a:srgbClr val="404040"/>
                </a:solidFill>
                <a:latin typeface="Calibri"/>
              </a:rPr>
              <a:t>HistGradientBoosting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0972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707070"/>
                </a:solidFill>
                <a:latin typeface="Calibri"/>
              </a:rPr>
              <a:t>Evaluation regimes — 5 cuts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64592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202020"/>
                </a:solidFill>
                <a:latin typeface="Calibri"/>
              </a:rPr>
              <a:t>Canonical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164592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04040"/>
                </a:solidFill>
                <a:latin typeface="Calibri"/>
              </a:rPr>
              <a:t>stratified 80/20 holdout + 5-fold CV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2860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202020"/>
                </a:solidFill>
                <a:latin typeface="Calibri"/>
              </a:rPr>
              <a:t>Augmented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228600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04040"/>
                </a:solidFill>
                <a:latin typeface="Calibri"/>
              </a:rPr>
              <a:t>+ 196 k-mer + 10 BLAST locus-neighbour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92608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202020"/>
                </a:solidFill>
                <a:latin typeface="Calibri"/>
              </a:rPr>
              <a:t>Gene-stratified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92608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04040"/>
                </a:solidFill>
                <a:latin typeface="Calibri"/>
              </a:rPr>
              <a:t>no gene appears in both train and test folds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56616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202020"/>
                </a:solidFill>
                <a:latin typeface="Calibri"/>
              </a:rPr>
              <a:t>No-VEP / VUS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356616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04040"/>
                </a:solidFill>
                <a:latin typeface="Calibri"/>
              </a:rPr>
              <a:t>drop every learned-predictor + conservation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20624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202020"/>
                </a:solidFill>
                <a:latin typeface="Calibri"/>
              </a:rPr>
              <a:t>Raw-only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420624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04040"/>
                </a:solidFill>
                <a:latin typeface="Calibri"/>
              </a:rPr>
              <a:t>keep only population AF, position, sequence composition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707070"/>
                </a:solidFill>
                <a:latin typeface="Calibri"/>
              </a:rPr>
              <a:t>RANDOM_STATE = 42 throughout. Per-model grid-search tuning by 5-fold CV macro-F1; AdaBoost grid stopped at combo 23/27 (compute budget).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Calibri"/>
              </a:rPr>
              <a:t>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00000"/>
                </a:solidFill>
                <a:latin typeface="Georgia"/>
              </a:rPr>
              <a:t>Headline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707070"/>
                </a:solidFill>
                <a:latin typeface="Calibri"/>
              </a:rPr>
              <a:t>4-class macro-F1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0292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0" b="1" i="0">
                <a:solidFill>
                  <a:srgbClr val="000000"/>
                </a:solidFill>
                <a:latin typeface="Georgia"/>
              </a:rPr>
              <a:t>0.795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707070"/>
                </a:solidFill>
                <a:latin typeface="Calibri"/>
              </a:rPr>
              <a:t>HistGradientBoosting · 21,872 variants · 208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1">
                <a:solidFill>
                  <a:srgbClr val="707070"/>
                </a:solidFill>
                <a:latin typeface="Calibri"/>
              </a:rPr>
              <a:t>2-class macro-F1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0292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0" b="1" i="0">
                <a:solidFill>
                  <a:srgbClr val="000000"/>
                </a:solidFill>
                <a:latin typeface="Georgia"/>
              </a:rPr>
              <a:t>0.987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0175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707070"/>
                </a:solidFill>
                <a:latin typeface="Calibri"/>
              </a:rPr>
              <a:t>HistGradientBoosting · 10,936 / 10,936 collapse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3474720"/>
          <a:ext cx="1106424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Calibri"/>
              </a:rPr>
              <a:t>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00000"/>
                </a:solidFill>
                <a:latin typeface="Georgia"/>
              </a:rPr>
              <a:t>Where the error lives — 4-class confusion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707070"/>
                </a:solidFill>
                <a:latin typeface="Calibri"/>
              </a:rPr>
              <a:t>Held-out, row-normalized. Definitive Benign / Pathogenic call near-perfect (&gt;0.93 / 0.79). Residual difficulty is the Pathogenic ↔ Likely-pathogenic boundary.</a:t>
            </a:r>
          </a:p>
        </p:txBody>
      </p:sp>
      <p:pic>
        <p:nvPicPr>
          <p:cNvPr id="4" name="Picture 3" descr="histgb_4class_c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828800"/>
            <a:ext cx="54864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Calibri"/>
              </a:rPr>
              <a:t>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00000"/>
                </a:solidFill>
                <a:latin typeface="Georgia"/>
              </a:rPr>
              <a:t>Stress tests — bounding the data-circularity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707070"/>
                          </a:solidFill>
                          <a:latin typeface="Calibri"/>
                        </a:rPr>
                        <a:t>Regime</a:t>
                      </a:r>
                    </a:p>
                  </a:txBody>
                  <a:tcPr marL="137160" marR="137160" marT="54864" marB="54864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707070"/>
                          </a:solidFill>
                          <a:latin typeface="Calibri"/>
                        </a:rPr>
                        <a:t>4-class F1</a:t>
                      </a:r>
                    </a:p>
                  </a:txBody>
                  <a:tcPr marL="137160" marR="137160" marT="54864" marB="54864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707070"/>
                          </a:solidFill>
                          <a:latin typeface="Calibri"/>
                        </a:rPr>
                        <a:t>2-class F1</a:t>
                      </a:r>
                    </a:p>
                  </a:txBody>
                  <a:tcPr marL="137160" marR="137160" marT="54864" marB="54864"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00000"/>
                          </a:solidFill>
                          <a:latin typeface="Calibri"/>
                        </a:rPr>
                        <a:t>Canonical tuned (headline)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000000"/>
                          </a:solidFill>
                          <a:latin typeface="Calibri"/>
                        </a:rPr>
                        <a:t>0.795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000000"/>
                          </a:solidFill>
                          <a:latin typeface="Calibri"/>
                        </a:rPr>
                        <a:t>0.987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Augmented (k-mer + BLAST)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0.795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0.990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Gene-stratified CV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0.766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0.987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No-VEP, k-fold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0.773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0.976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No-VEP, gene-stratified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0.761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Raw-only (no predictor, no conservation)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0.721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0.934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DITTO removed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0.791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137160" marR="137160" marT="54864" marB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85216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202020"/>
                </a:solidFill>
                <a:latin typeface="Calibri"/>
              </a:rPr>
              <a:t>Graceful degradation across regimes: HistGB loses 0.027 to gene-stratified CV, 0.022 to no-VEP, 0.074 to raw-only. The 2-class task is essentially insensitive to all stresses.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Calibri"/>
              </a:rP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00000"/>
                </a:solidFill>
                <a:latin typeface="Georgia"/>
              </a:rPr>
              <a:t>Real VUS deployment — per-gene predictions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707070"/>
                </a:solidFill>
                <a:latin typeface="Calibri"/>
              </a:rPr>
              <a:t>Top-20 most-frequent genes in the 5,468-variant pro-set, stacked by 4-class prediction. GCK 100%, PAH 99%, MYH7 90%, LDLR 84% pathogenic-side.</a:t>
            </a:r>
          </a:p>
        </p:txBody>
      </p:sp>
      <p:pic>
        <p:nvPicPr>
          <p:cNvPr id="4" name="Picture 3" descr="vus_per_gene_predi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6162" y="1828800"/>
            <a:ext cx="4909195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Calibri"/>
              </a:rP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00000"/>
                </a:solidFill>
                <a:latin typeface="Georgia"/>
              </a:rPr>
              <a:t>VUS deployment — the four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707070"/>
                </a:solidFill>
                <a:latin typeface="Calibri"/>
              </a:rPr>
              <a:t>Applying the tuned HistGradientBoosting to 5,468 strict-VUS variants annotated through the same pipeline.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2120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0" b="1" i="0">
                <a:solidFill>
                  <a:srgbClr val="000000"/>
                </a:solidFill>
                <a:latin typeface="Georgia"/>
              </a:rPr>
              <a:t>62% / 38%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5212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404040"/>
                </a:solidFill>
                <a:latin typeface="Calibri"/>
              </a:rPr>
              <a:t>pathogenic-side / benign-side split on 2-class head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2120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0" b="1" i="0">
                <a:solidFill>
                  <a:srgbClr val="000000"/>
                </a:solidFill>
                <a:latin typeface="Georgia"/>
              </a:rPr>
              <a:t>80%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926080"/>
            <a:ext cx="5212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404040"/>
                </a:solidFill>
                <a:latin typeface="Calibri"/>
              </a:rPr>
              <a:t>of predictions have max probability &gt; 0.9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97680"/>
            <a:ext cx="52120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0" b="1" i="0">
                <a:solidFill>
                  <a:srgbClr val="000000"/>
                </a:solidFill>
                <a:latin typeface="Georgia"/>
              </a:rPr>
              <a:t>87%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94960"/>
            <a:ext cx="5212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404040"/>
                </a:solidFill>
                <a:latin typeface="Calibri"/>
              </a:rPr>
              <a:t>of 4-class predictions hedge into Likely-* — only 13% definitive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297680"/>
            <a:ext cx="52120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400" b="1" i="0">
                <a:solidFill>
                  <a:srgbClr val="000000"/>
                </a:solidFill>
                <a:latin typeface="Georgia"/>
              </a:rPr>
              <a:t>95.4%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394960"/>
            <a:ext cx="5212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404040"/>
                </a:solidFill>
                <a:latin typeface="Calibri"/>
              </a:rPr>
              <a:t>cross-task agreement (4-class collapsed vs. 2-class head)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Calibri"/>
              </a:rP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00000"/>
                </a:solidFill>
                <a:latin typeface="Georgia"/>
              </a:rPr>
              <a:t>VUS as a 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707070"/>
                </a:solidFill>
                <a:latin typeface="Calibri"/>
              </a:rPr>
              <a:t>With VUS added as a labelled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404040"/>
                </a:solidFill>
                <a:latin typeface="Calibri"/>
              </a:rPr>
              <a:t>2-class no-VUS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64592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400" b="1" i="0">
                <a:solidFill>
                  <a:srgbClr val="000000"/>
                </a:solidFill>
                <a:latin typeface="Georgia"/>
              </a:rPr>
              <a:t>0.987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404040"/>
                </a:solidFill>
                <a:latin typeface="Calibri"/>
              </a:rPr>
              <a:t>3-class with VUS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24028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400" b="1" i="0">
                <a:solidFill>
                  <a:srgbClr val="000000"/>
                </a:solidFill>
                <a:latin typeface="Georgia"/>
              </a:rPr>
              <a:t>0.946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3464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404040"/>
                </a:solidFill>
                <a:latin typeface="Calibri"/>
              </a:rPr>
              <a:t>4-class no-VUS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83464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400" b="1" i="0">
                <a:solidFill>
                  <a:srgbClr val="000000"/>
                </a:solidFill>
                <a:latin typeface="Georgia"/>
              </a:rPr>
              <a:t>0.795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2900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404040"/>
                </a:solidFill>
                <a:latin typeface="Calibri"/>
              </a:rPr>
              <a:t>5-class with VUS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429000"/>
            <a:ext cx="1371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400" b="1" i="0">
                <a:solidFill>
                  <a:srgbClr val="000000"/>
                </a:solidFill>
                <a:latin typeface="Georgia"/>
              </a:rPr>
              <a:t>0.798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06240"/>
            <a:ext cx="5486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202020"/>
                </a:solidFill>
                <a:latin typeface="Calibri"/>
              </a:rPr>
              <a:t>Adding VUS as a 5th class does NOT hurt overall macro-F1 — it slightly improves it. MCC improves by +0.022.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400800" y="1188720"/>
          <a:ext cx="54864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400800" y="557784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202020"/>
                </a:solidFill>
                <a:latin typeface="Calibri"/>
              </a:rPr>
              <a:t>VUS reaches F1 = 0.901 — between Benign and Likely-benign in difficulty. One of the cleanest classes to recognise.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Calibri"/>
              </a:rP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00000"/>
                </a:solidFill>
                <a:latin typeface="Georgia"/>
              </a:rPr>
              <a:t>5-class confusion matrix — where VUS sits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46850" y="1097280"/>
            <a:ext cx="5066030" cy="2361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 i="1" dirty="0">
                <a:solidFill>
                  <a:srgbClr val="707070"/>
                </a:solidFill>
                <a:latin typeface="Calibri"/>
              </a:rPr>
              <a:t>Held-out, row-normalized. VUS row reaches 0.94 diagonal — cleaner than Pathogenic (0.64) or Likely-pathogenic (0.61). VUS misclassifications hedge into Likely-*, not into definitive calls.</a:t>
            </a:r>
          </a:p>
        </p:txBody>
      </p:sp>
      <p:pic>
        <p:nvPicPr>
          <p:cNvPr id="4" name="Picture 3" descr="histgradientboosting_confusion_matrix_normaliz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7279"/>
            <a:ext cx="5930900" cy="494241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Calibri"/>
              </a:rP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00000"/>
                </a:solidFill>
                <a:latin typeface="Georgia"/>
              </a:rPr>
              <a:t>What drives the booster — SHAP top-30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24550" y="1471374"/>
            <a:ext cx="5218430" cy="2361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 i="1" dirty="0">
                <a:solidFill>
                  <a:srgbClr val="707070"/>
                </a:solidFill>
                <a:latin typeface="Calibri"/>
              </a:rPr>
              <a:t>Canonical 4-class </a:t>
            </a:r>
            <a:r>
              <a:rPr sz="2400" b="0" i="1" dirty="0" err="1">
                <a:solidFill>
                  <a:srgbClr val="707070"/>
                </a:solidFill>
                <a:latin typeface="Calibri"/>
              </a:rPr>
              <a:t>HistGradientBoosting</a:t>
            </a:r>
            <a:r>
              <a:rPr sz="2400" b="0" i="1" dirty="0">
                <a:solidFill>
                  <a:srgbClr val="707070"/>
                </a:solidFill>
                <a:latin typeface="Calibri"/>
              </a:rPr>
              <a:t>. DITTO leads, </a:t>
            </a:r>
            <a:r>
              <a:rPr sz="2400" b="0" i="1" dirty="0" err="1">
                <a:solidFill>
                  <a:srgbClr val="707070"/>
                </a:solidFill>
                <a:latin typeface="Calibri"/>
              </a:rPr>
              <a:t>MetaRNN</a:t>
            </a:r>
            <a:r>
              <a:rPr sz="2400" b="0" i="1" dirty="0">
                <a:solidFill>
                  <a:srgbClr val="707070"/>
                </a:solidFill>
                <a:latin typeface="Calibri"/>
              </a:rPr>
              <a:t> second, then population allele frequencies — the model is using both predictor scores and frequency data.</a:t>
            </a:r>
          </a:p>
        </p:txBody>
      </p:sp>
      <p:pic>
        <p:nvPicPr>
          <p:cNvPr id="4" name="Picture 3" descr="shap_bar_4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510" y="1102995"/>
            <a:ext cx="4790440" cy="53892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Calibri"/>
              </a:rP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00000"/>
                </a:solidFill>
                <a:latin typeface="Georgia"/>
              </a:rPr>
              <a:t>Predictor correlation — the redundancy structure</a:t>
            </a:r>
          </a:p>
        </p:txBody>
      </p:sp>
      <p:pic>
        <p:nvPicPr>
          <p:cNvPr id="4" name="Picture 3" descr="key_vep_score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48360"/>
            <a:ext cx="6009640" cy="6009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Calibri"/>
              </a:rPr>
              <a:t>16 / 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31510" y="1631950"/>
            <a:ext cx="5885180" cy="33156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sz="2800" b="0" i="1" dirty="0">
                <a:solidFill>
                  <a:srgbClr val="707070"/>
                </a:solidFill>
                <a:latin typeface="Calibri"/>
              </a:rPr>
              <a:t>Pearson correlation among key VEP scores + </a:t>
            </a:r>
            <a:r>
              <a:rPr sz="2800" b="0" i="1" dirty="0" err="1">
                <a:solidFill>
                  <a:srgbClr val="707070"/>
                </a:solidFill>
                <a:latin typeface="Calibri"/>
              </a:rPr>
              <a:t>gnomAD</a:t>
            </a:r>
            <a:r>
              <a:rPr sz="2800" b="0" i="1" dirty="0">
                <a:solidFill>
                  <a:srgbClr val="707070"/>
                </a:solidFill>
                <a:latin typeface="Calibri"/>
              </a:rPr>
              <a:t> AF. Predictor scores form a tight cluster; </a:t>
            </a:r>
            <a:r>
              <a:rPr sz="2800" b="0" i="1" dirty="0" err="1">
                <a:solidFill>
                  <a:srgbClr val="707070"/>
                </a:solidFill>
                <a:latin typeface="Calibri"/>
              </a:rPr>
              <a:t>gnomAD</a:t>
            </a:r>
            <a:r>
              <a:rPr sz="2800" b="0" i="1" dirty="0">
                <a:solidFill>
                  <a:srgbClr val="707070"/>
                </a:solidFill>
                <a:latin typeface="Calibri"/>
              </a:rPr>
              <a:t> AF sits in its own corner — the structural reason predictors substitute for each other, but population AF does not.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00000"/>
                </a:solidFill>
                <a:latin typeface="Georgia"/>
              </a:rPr>
              <a:t>Useful vs. waste — feature ablation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88720"/>
          <a:ext cx="1106424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Group</a:t>
                      </a:r>
                    </a:p>
                  </a:txBody>
                  <a:tcPr marT="27432" marB="27432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4-class</a:t>
                      </a:r>
                    </a:p>
                  </a:txBody>
                  <a:tcPr marT="27432" marB="27432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2-class</a:t>
                      </a:r>
                    </a:p>
                  </a:txBody>
                  <a:tcPr marT="27432" marB="27432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5-class</a:t>
                      </a:r>
                    </a:p>
                  </a:txBody>
                  <a:tcPr marT="27432" marB="27432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3-class</a:t>
                      </a:r>
                    </a:p>
                  </a:txBody>
                  <a:tcPr marT="27432" marB="27432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n feat</a:t>
                      </a:r>
                    </a:p>
                  </a:txBody>
                  <a:tcPr marT="27432" marB="27432"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population_af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+0.0471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+0.0025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+0.0405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+0.0054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47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functional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-0.0012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-0.0005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+0.0266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+0.0469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other_vep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+0.0133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-0.0002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+0.0137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+0.0073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56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cadd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-0.0054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-0.0005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-0.0001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-0.0015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ditto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+0.0039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+0.0046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+0.0001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+0.0033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metarnn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+0.0014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+0.0005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+0.0045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+0.0005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bayesdel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-0.0045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-0.0002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-0.0004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-0.0003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position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-0.0044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+0.0002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+0.0018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+0.0029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revel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-0.0018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+0.0005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-0.0044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-0.0015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chasmplus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+0.0026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+0.0011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+0.0028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-0.0002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68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alphamissense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-0.0015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+0.0005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-0.0028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-0.0017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conservation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+0.0018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-0.0007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-0.0001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+0.0000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707070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707070"/>
                </a:solidFill>
                <a:latin typeface="Calibri"/>
              </a:rPr>
              <a:t>Greyed rows: HistGB |Δ| &lt; 0.005 across every task. 8 of 12 groups (97 of 208 features) are waste at the group level.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Calibri"/>
              </a:rP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00000"/>
                </a:solidFill>
                <a:latin typeface="Georgia"/>
              </a:rPr>
              <a:t>Per-feature permutation — the redundancy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202020"/>
                </a:solidFill>
                <a:latin typeface="Calibri"/>
              </a:rPr>
              <a:t>Removing a 'waste' group is cheap — but individual features inside those groups are still highly predictive. Group LOO measures replaceability, not informativeness.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Georgia"/>
              </a:rPr>
              <a:t>ditto_score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54864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Georgia"/>
              </a:rPr>
              <a:t>0.133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707070"/>
                </a:solidFill>
                <a:latin typeface="Calibri"/>
              </a:rPr>
              <a:t>individual macro-F1 weight (4-class)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37744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Georgia"/>
              </a:rPr>
              <a:t>metarnn_score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926080"/>
            <a:ext cx="54864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200" b="1" i="0">
                <a:solidFill>
                  <a:srgbClr val="000000"/>
                </a:solidFill>
                <a:latin typeface="Georgia"/>
              </a:rPr>
              <a:t>0.048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20624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707070"/>
                </a:solidFill>
                <a:latin typeface="Calibri"/>
              </a:rPr>
              <a:t>individual macro-F1 weight (4-class)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03520"/>
            <a:ext cx="11064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202020"/>
                </a:solidFill>
                <a:latin typeface="Calibri"/>
              </a:rPr>
              <a:t>Inter-predictor redundancy. Remove DITTO and MetaRNN compensates; remove MetaRNN and DITTO compensates. Only by removing several correlated meta-classifiers together does the redundancy buffer collapse — which is what Lean B exploits.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Calibri"/>
              </a:rP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00000"/>
                </a:solidFill>
                <a:latin typeface="Georgia"/>
              </a:rPr>
              <a:t>Lean B — 45% smaller, 0.012 cost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 dirty="0">
                <a:solidFill>
                  <a:srgbClr val="707070"/>
                </a:solidFill>
                <a:latin typeface="Calibri"/>
              </a:rPr>
              <a:t>Lean B drops 95 of 208 features, keeping </a:t>
            </a:r>
            <a:r>
              <a:rPr sz="1500" b="0" i="1" dirty="0" err="1">
                <a:solidFill>
                  <a:srgbClr val="707070"/>
                </a:solidFill>
                <a:latin typeface="Calibri"/>
              </a:rPr>
              <a:t>ditto_score</a:t>
            </a:r>
            <a:r>
              <a:rPr sz="1500" b="0" i="1" dirty="0">
                <a:solidFill>
                  <a:srgbClr val="707070"/>
                </a:solidFill>
                <a:latin typeface="Calibri"/>
              </a:rPr>
              <a:t> and </a:t>
            </a:r>
            <a:r>
              <a:rPr sz="1500" b="0" i="1" dirty="0" err="1">
                <a:solidFill>
                  <a:srgbClr val="707070"/>
                </a:solidFill>
                <a:latin typeface="Calibri"/>
              </a:rPr>
              <a:t>metarnn_score</a:t>
            </a:r>
            <a:r>
              <a:rPr sz="1500" b="0" i="1" dirty="0">
                <a:solidFill>
                  <a:srgbClr val="707070"/>
                </a:solidFill>
                <a:latin typeface="Calibri"/>
              </a:rPr>
              <a:t> (the per-feature winners).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828800"/>
          <a:ext cx="1106424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202020"/>
                </a:solidFill>
                <a:latin typeface="Calibri"/>
              </a:rPr>
              <a:t>At most 0.012 macro-F1 cost on any task. Several models (KNN, NearestCentroid, CosineSimilarity) actually improve on the lean subset.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Calibri"/>
              </a:rP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000000"/>
                </a:solidFill>
                <a:latin typeface="Georgia"/>
              </a:rPr>
              <a:t>Future directions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Georgia"/>
              </a:rPr>
              <a:t>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Cross-database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7830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04040"/>
                </a:solidFill>
                <a:latin typeface="Calibri"/>
              </a:rPr>
              <a:t>replicate Lean B numbers on HGMD or a held-out ClinVar snapshot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Georgia"/>
              </a:rPr>
              <a:t>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True homology BLAST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5603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04040"/>
                </a:solidFill>
                <a:latin typeface="Calibri"/>
              </a:rPr>
              <a:t>blastp on UniRef50 with the amino-acid substitution applied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Georgia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260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Finish the AdaBoost tuning grid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3375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04040"/>
                </a:solidFill>
                <a:latin typeface="Calibri"/>
              </a:rPr>
              <a:t>the partial 23/27 grid was halted for compute budget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0332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Georgia"/>
              </a:rPr>
              <a:t>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Probability calibration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1148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04040"/>
                </a:solidFill>
                <a:latin typeface="Calibri"/>
              </a:rPr>
              <a:t>Platt or isotonic regression so predict_proba is a usable risk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8056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Georgia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805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Gene-stratified VUS-as-class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89204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04040"/>
                </a:solidFill>
                <a:latin typeface="Calibri"/>
              </a:rPr>
              <a:t>test whether VUS-detection survives without same-gene leakage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257800"/>
            <a:ext cx="365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00000"/>
                </a:solidFill>
                <a:latin typeface="Georgia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2578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Variant-level error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6692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04040"/>
                </a:solidFill>
                <a:latin typeface="Calibri"/>
              </a:rPr>
              <a:t>manual review of the Pathogenic ↔ Likely-pathogenic confusion region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Calibri"/>
              </a:rP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0"/>
            <a:ext cx="2743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36320" y="590550"/>
            <a:ext cx="100584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800" b="1" i="0" dirty="0">
                <a:solidFill>
                  <a:srgbClr val="000000"/>
                </a:solidFill>
                <a:latin typeface="Georgia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320" y="2033270"/>
            <a:ext cx="100584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dirty="0">
                <a:solidFill>
                  <a:srgbClr val="000000"/>
                </a:solidFill>
                <a:latin typeface="Calibri"/>
              </a:rPr>
              <a:t>Doruk Topcu  ·  Alihan </a:t>
            </a:r>
            <a:r>
              <a:rPr sz="1800" b="0" i="0" dirty="0" err="1">
                <a:solidFill>
                  <a:srgbClr val="000000"/>
                </a:solidFill>
                <a:latin typeface="Calibri"/>
              </a:rPr>
              <a:t>Sağöz</a:t>
            </a:r>
            <a:endParaRPr lang="en-US" sz="1800" b="0" i="0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36320" y="2934970"/>
            <a:ext cx="10058400" cy="8617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400" b="0" i="1" dirty="0">
                <a:solidFill>
                  <a:srgbClr val="707070"/>
                </a:solidFill>
                <a:latin typeface="Calibri"/>
              </a:rPr>
              <a:t>Google Collab – </a:t>
            </a:r>
            <a:r>
              <a:rPr lang="en-US" sz="1400" b="0" i="1" dirty="0" err="1">
                <a:solidFill>
                  <a:srgbClr val="707070"/>
                </a:solidFill>
                <a:latin typeface="Calibri"/>
              </a:rPr>
              <a:t>MissVarPath</a:t>
            </a:r>
            <a:r>
              <a:rPr lang="en-US" sz="1400" b="0" i="1" dirty="0">
                <a:solidFill>
                  <a:srgbClr val="707070"/>
                </a:solidFill>
                <a:latin typeface="Calibri"/>
              </a:rPr>
              <a:t> </a:t>
            </a:r>
            <a:r>
              <a:rPr lang="en-US" sz="1400" i="1" dirty="0">
                <a:solidFill>
                  <a:srgbClr val="707070"/>
                </a:solidFill>
              </a:rPr>
              <a:t>EDA: </a:t>
            </a:r>
            <a:r>
              <a:rPr lang="en-US" sz="1400" i="1" dirty="0">
                <a:solidFill>
                  <a:srgbClr val="707070"/>
                </a:solidFill>
                <a:hlinkClick r:id="rId2"/>
              </a:rPr>
              <a:t>https://colab.research.google.com/drive/1Mk_cXAjRAKlRVjWplSdtV9DCR-t0P0iU</a:t>
            </a:r>
            <a:r>
              <a:rPr lang="en-US" sz="1400" i="1" dirty="0">
                <a:solidFill>
                  <a:srgbClr val="707070"/>
                </a:solidFill>
              </a:rPr>
              <a:t> </a:t>
            </a:r>
            <a:endParaRPr lang="en-US" sz="1400" b="0" i="1" dirty="0">
              <a:solidFill>
                <a:srgbClr val="707070"/>
              </a:solidFill>
              <a:latin typeface="Calibri"/>
            </a:endParaRPr>
          </a:p>
          <a:p>
            <a:r>
              <a:rPr lang="en-US" sz="1400" i="1" dirty="0">
                <a:solidFill>
                  <a:srgbClr val="707070"/>
                </a:solidFill>
                <a:latin typeface="Calibri"/>
              </a:rPr>
              <a:t>Google Collab – Full </a:t>
            </a:r>
            <a:r>
              <a:rPr lang="en-US" sz="1400" b="0" i="1" dirty="0">
                <a:solidFill>
                  <a:srgbClr val="707070"/>
                </a:solidFill>
                <a:latin typeface="Calibri"/>
              </a:rPr>
              <a:t>code</a:t>
            </a:r>
            <a:r>
              <a:rPr lang="en-US" sz="1400" i="1" dirty="0">
                <a:solidFill>
                  <a:srgbClr val="707070"/>
                </a:solidFill>
              </a:rPr>
              <a:t>: </a:t>
            </a:r>
            <a:r>
              <a:rPr lang="en-US" sz="1400" i="1" dirty="0">
                <a:solidFill>
                  <a:srgbClr val="707070"/>
                </a:solidFill>
                <a:hlinkClick r:id="rId3"/>
              </a:rPr>
              <a:t>https://colab.research.google.com/drive/1ceyQjc73Gsm2bfclc7PznBS_dQ0EB74a#scrollTo=cell-0001</a:t>
            </a:r>
            <a:r>
              <a:rPr lang="en-US" sz="1400" i="1" dirty="0">
                <a:solidFill>
                  <a:srgbClr val="707070"/>
                </a:solidFill>
              </a:rPr>
              <a:t>  </a:t>
            </a:r>
          </a:p>
          <a:p>
            <a:r>
              <a:rPr lang="en-US" sz="1400" i="1" dirty="0">
                <a:solidFill>
                  <a:srgbClr val="707070"/>
                </a:solidFill>
                <a:latin typeface="Calibri"/>
              </a:rPr>
              <a:t>Datasets &amp; Other files to run the full model: </a:t>
            </a:r>
            <a:r>
              <a:rPr lang="en-US" sz="1400" i="1" dirty="0">
                <a:solidFill>
                  <a:srgbClr val="707070"/>
                </a:solidFill>
                <a:hlinkClick r:id="rId4"/>
              </a:rPr>
              <a:t>https://drive.google.com/drive/folders/1Sy5dnzYGiwCGXYRMXiCGnyJt04SuOphv?usp=sharing</a:t>
            </a:r>
            <a:endParaRPr lang="en-US" sz="1400" i="1" dirty="0">
              <a:solidFill>
                <a:srgbClr val="707070"/>
              </a:solidFill>
            </a:endParaRPr>
          </a:p>
          <a:p>
            <a:endParaRPr lang="en-US" sz="1400" b="0" i="1" dirty="0">
              <a:solidFill>
                <a:srgbClr val="707070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707070"/>
                </a:solidFill>
                <a:latin typeface="Calibri"/>
              </a:rP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1371</Words>
  <Application>Microsoft Office PowerPoint</Application>
  <PresentationFormat>Widescreen</PresentationFormat>
  <Paragraphs>266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DORUK TOPCU</cp:lastModifiedBy>
  <cp:revision>3</cp:revision>
  <dcterms:created xsi:type="dcterms:W3CDTF">2013-01-27T09:14:16Z</dcterms:created>
  <dcterms:modified xsi:type="dcterms:W3CDTF">2026-05-24T02:15:08Z</dcterms:modified>
  <cp:category/>
</cp:coreProperties>
</file>