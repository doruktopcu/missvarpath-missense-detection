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46"/>
    <p:restoredTop sz="94608"/>
  </p:normalViewPr>
  <p:slideViewPr>
    <p:cSldViewPr snapToGrid="0" snapToObjects="1">
      <p:cViewPr varScale="1">
        <p:scale>
          <a:sx n="126" d="100"/>
          <a:sy n="126" d="100"/>
        </p:scale>
        <p:origin x="232" y="2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4009276732970363"/>
          <c:y val="7.1684587813620068E-2"/>
          <c:w val="0.83509377959986408"/>
          <c:h val="0.82183346033358728"/>
        </c:manualLayout>
      </c:layout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4-class macro-F1</c:v>
                </c:pt>
              </c:strCache>
            </c:strRef>
          </c:tx>
          <c:spPr>
            <a:solidFill>
              <a:srgbClr val="202020"/>
            </a:solidFill>
            <a:ln w="9525">
              <a:solidFill>
                <a:srgbClr val="202020"/>
              </a:solidFill>
            </a:ln>
          </c:spPr>
          <c:invertIfNegative val="1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202020"/>
                    </a:solidFill>
                    <a:latin typeface="Calibri"/>
                  </a:defRPr>
                </a:pPr>
                <a:endParaRPr lang="en-T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KNN</c:v>
                </c:pt>
                <c:pt idx="1">
                  <c:v>RidgeClassifier</c:v>
                </c:pt>
                <c:pt idx="2">
                  <c:v>LDA</c:v>
                </c:pt>
                <c:pt idx="3">
                  <c:v>SGDClassifier</c:v>
                </c:pt>
                <c:pt idx="4">
                  <c:v>DecisionTree</c:v>
                </c:pt>
                <c:pt idx="5">
                  <c:v>LinearSVC</c:v>
                </c:pt>
                <c:pt idx="6">
                  <c:v>HistGradientBoosting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0.65979097452510194</c:v>
                </c:pt>
                <c:pt idx="1">
                  <c:v>0.70032322934386282</c:v>
                </c:pt>
                <c:pt idx="2">
                  <c:v>0.70219901594954903</c:v>
                </c:pt>
                <c:pt idx="3">
                  <c:v>0.71820849606046844</c:v>
                </c:pt>
                <c:pt idx="4">
                  <c:v>0.75140900678597822</c:v>
                </c:pt>
                <c:pt idx="5">
                  <c:v>0.75493355272700602</c:v>
                </c:pt>
                <c:pt idx="6">
                  <c:v>0.79503926169518224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>
                    <a:solidFill>
                      <a:srgbClr val="202020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BCF-D64D-A2B4-1D26D0C0E5C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Calibri"/>
              </a:defRPr>
            </a:pPr>
            <a:endParaRPr lang="en-T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85"/>
          <c:min val="0.5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Calibri"/>
              </a:defRPr>
            </a:pPr>
            <a:endParaRPr lang="en-T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2-class macro-F1</c:v>
                </c:pt>
              </c:strCache>
            </c:strRef>
          </c:tx>
          <c:spPr>
            <a:solidFill>
              <a:srgbClr val="202020"/>
            </a:solidFill>
            <a:ln w="9525">
              <a:solidFill>
                <a:srgbClr val="202020"/>
              </a:solidFill>
            </a:ln>
          </c:spPr>
          <c:invertIfNegative val="1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02020"/>
                    </a:solidFill>
                    <a:latin typeface="Calibri"/>
                  </a:defRPr>
                </a:pPr>
                <a:endParaRPr lang="en-T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KNN</c:v>
                </c:pt>
                <c:pt idx="1">
                  <c:v>RidgeClassifier</c:v>
                </c:pt>
                <c:pt idx="2">
                  <c:v>LDA</c:v>
                </c:pt>
                <c:pt idx="3">
                  <c:v>DecisionTree</c:v>
                </c:pt>
                <c:pt idx="4">
                  <c:v>SGDClassifier</c:v>
                </c:pt>
                <c:pt idx="5">
                  <c:v>LinearSVC</c:v>
                </c:pt>
                <c:pt idx="6">
                  <c:v>HistGradientBoosting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0.96525561625982836</c:v>
                </c:pt>
                <c:pt idx="1">
                  <c:v>0.97965448548381839</c:v>
                </c:pt>
                <c:pt idx="2">
                  <c:v>0.9801116880572156</c:v>
                </c:pt>
                <c:pt idx="3">
                  <c:v>0.98217109231095245</c:v>
                </c:pt>
                <c:pt idx="4">
                  <c:v>0.9846853942417082</c:v>
                </c:pt>
                <c:pt idx="5">
                  <c:v>0.98674235220504858</c:v>
                </c:pt>
                <c:pt idx="6">
                  <c:v>0.98719984953292517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>
                    <a:solidFill>
                      <a:srgbClr val="202020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97C-D147-9955-AE7A7EA0D81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>
                <a:solidFill>
                  <a:srgbClr val="404040"/>
                </a:solidFill>
                <a:latin typeface="Calibri"/>
              </a:defRPr>
            </a:pPr>
            <a:endParaRPr lang="en-T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.88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>
                <a:solidFill>
                  <a:srgbClr val="404040"/>
                </a:solidFill>
                <a:latin typeface="Calibri"/>
              </a:defRPr>
            </a:pPr>
            <a:endParaRPr lang="en-T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3-class macro-F1</c:v>
                </c:pt>
              </c:strCache>
            </c:strRef>
          </c:tx>
          <c:spPr>
            <a:solidFill>
              <a:srgbClr val="202020"/>
            </a:solidFill>
            <a:ln w="9525">
              <a:solidFill>
                <a:srgbClr val="202020"/>
              </a:solidFill>
            </a:ln>
          </c:spPr>
          <c:invertIfNegative val="1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02020"/>
                    </a:solidFill>
                    <a:latin typeface="Calibri"/>
                  </a:defRPr>
                </a:pPr>
                <a:endParaRPr lang="en-T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QDA</c:v>
                </c:pt>
                <c:pt idx="1">
                  <c:v>LDA</c:v>
                </c:pt>
                <c:pt idx="2">
                  <c:v>RidgeClassifier</c:v>
                </c:pt>
                <c:pt idx="3">
                  <c:v>SGDClassifier</c:v>
                </c:pt>
                <c:pt idx="4">
                  <c:v>LinearSVC</c:v>
                </c:pt>
                <c:pt idx="5">
                  <c:v>DecisionTree</c:v>
                </c:pt>
                <c:pt idx="6">
                  <c:v>HistGradientBoosting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0.82729789652980978</c:v>
                </c:pt>
                <c:pt idx="1">
                  <c:v>0.84546254404921184</c:v>
                </c:pt>
                <c:pt idx="2">
                  <c:v>0.84768361318096963</c:v>
                </c:pt>
                <c:pt idx="3">
                  <c:v>0.85798572322931133</c:v>
                </c:pt>
                <c:pt idx="4">
                  <c:v>0.87623731785013581</c:v>
                </c:pt>
                <c:pt idx="5">
                  <c:v>0.90435881613240865</c:v>
                </c:pt>
                <c:pt idx="6">
                  <c:v>0.94593424855587915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>
                    <a:solidFill>
                      <a:srgbClr val="202020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844-494B-8EAC-04CDF266130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>
                <a:solidFill>
                  <a:srgbClr val="404040"/>
                </a:solidFill>
                <a:latin typeface="Calibri"/>
              </a:defRPr>
            </a:pPr>
            <a:endParaRPr lang="en-T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.6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>
                <a:solidFill>
                  <a:srgbClr val="404040"/>
                </a:solidFill>
                <a:latin typeface="Calibri"/>
              </a:defRPr>
            </a:pPr>
            <a:endParaRPr lang="en-T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5-class macro-F1</c:v>
                </c:pt>
              </c:strCache>
            </c:strRef>
          </c:tx>
          <c:spPr>
            <a:solidFill>
              <a:srgbClr val="202020"/>
            </a:solidFill>
            <a:ln w="9525">
              <a:solidFill>
                <a:srgbClr val="202020"/>
              </a:solidFill>
            </a:ln>
          </c:spPr>
          <c:invertIfNegative val="1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02020"/>
                    </a:solidFill>
                    <a:latin typeface="Calibri"/>
                  </a:defRPr>
                </a:pPr>
                <a:endParaRPr lang="en-T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QDA</c:v>
                </c:pt>
                <c:pt idx="1">
                  <c:v>RidgeClassifier</c:v>
                </c:pt>
                <c:pt idx="2">
                  <c:v>LDA</c:v>
                </c:pt>
                <c:pt idx="3">
                  <c:v>SGDClassifier</c:v>
                </c:pt>
                <c:pt idx="4">
                  <c:v>LinearSVC</c:v>
                </c:pt>
                <c:pt idx="5">
                  <c:v>DecisionTree</c:v>
                </c:pt>
                <c:pt idx="6">
                  <c:v>HistGradientBoosting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0.61234849079361597</c:v>
                </c:pt>
                <c:pt idx="1">
                  <c:v>0.65737125597730939</c:v>
                </c:pt>
                <c:pt idx="2">
                  <c:v>0.66409189799786728</c:v>
                </c:pt>
                <c:pt idx="3">
                  <c:v>0.67827624370074946</c:v>
                </c:pt>
                <c:pt idx="4">
                  <c:v>0.71859252613091962</c:v>
                </c:pt>
                <c:pt idx="5">
                  <c:v>0.72924305884399254</c:v>
                </c:pt>
                <c:pt idx="6">
                  <c:v>0.79839763824486543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>
                    <a:solidFill>
                      <a:srgbClr val="202020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FC3-2544-8106-E3879C1718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>
                <a:solidFill>
                  <a:srgbClr val="404040"/>
                </a:solidFill>
                <a:latin typeface="Calibri"/>
              </a:defRPr>
            </a:pPr>
            <a:endParaRPr lang="en-T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85"/>
          <c:min val="0.45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>
                <a:solidFill>
                  <a:srgbClr val="404040"/>
                </a:solidFill>
                <a:latin typeface="Calibri"/>
              </a:defRPr>
            </a:pPr>
            <a:endParaRPr lang="en-T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Per-class F1 (5-class HistGB)</c:v>
                </c:pt>
              </c:strCache>
            </c:strRef>
          </c:tx>
          <c:spPr>
            <a:solidFill>
              <a:srgbClr val="202020"/>
            </a:solidFill>
            <a:ln w="9525">
              <a:solidFill>
                <a:srgbClr val="202020"/>
              </a:solidFill>
            </a:ln>
          </c:spPr>
          <c:invertIfNegative val="1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202020"/>
                    </a:solidFill>
                    <a:latin typeface="Calibri"/>
                  </a:defRPr>
                </a:pPr>
                <a:endParaRPr lang="en-T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Benign</c:v>
                </c:pt>
                <c:pt idx="1">
                  <c:v>Likely benign</c:v>
                </c:pt>
                <c:pt idx="2">
                  <c:v>Likely pathogenic</c:v>
                </c:pt>
                <c:pt idx="3">
                  <c:v>Pathogenic</c:v>
                </c:pt>
                <c:pt idx="4">
                  <c:v>VUS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0.92900000000000005</c:v>
                </c:pt>
                <c:pt idx="1">
                  <c:v>0.89400000000000002</c:v>
                </c:pt>
                <c:pt idx="2">
                  <c:v>0.622</c:v>
                </c:pt>
                <c:pt idx="3">
                  <c:v>0.64600000000000002</c:v>
                </c:pt>
                <c:pt idx="4">
                  <c:v>0.90100000000000002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>
                    <a:solidFill>
                      <a:srgbClr val="202020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E69-5A4F-B77C-2C435AB257A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Calibri"/>
              </a:defRPr>
            </a:pPr>
            <a:endParaRPr lang="en-T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.5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Calibri"/>
              </a:defRPr>
            </a:pPr>
            <a:endParaRPr lang="en-T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(208 features)</c:v>
                </c:pt>
              </c:strCache>
            </c:strRef>
          </c:tx>
          <c:spPr>
            <a:solidFill>
              <a:srgbClr val="000000"/>
            </a:solidFill>
            <a:ln w="9525">
              <a:solidFill>
                <a:srgbClr val="202020"/>
              </a:solidFill>
            </a:ln>
          </c:spPr>
          <c:invertIfNegative val="1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404040"/>
                    </a:solidFill>
                    <a:latin typeface="Calibri"/>
                  </a:defRPr>
                </a:pPr>
                <a:endParaRPr lang="en-T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2-class</c:v>
                </c:pt>
                <c:pt idx="1">
                  <c:v>3-class</c:v>
                </c:pt>
                <c:pt idx="2">
                  <c:v>4-class</c:v>
                </c:pt>
                <c:pt idx="3">
                  <c:v>5-class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0.98719999999999997</c:v>
                </c:pt>
                <c:pt idx="1">
                  <c:v>0.94589999999999996</c:v>
                </c:pt>
                <c:pt idx="2">
                  <c:v>0.79500000000000004</c:v>
                </c:pt>
                <c:pt idx="3">
                  <c:v>0.7984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>
                    <a:solidFill>
                      <a:srgbClr val="202020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5EA7-B64F-8651-9FAE35B419F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Lean B (113 features)</c:v>
                </c:pt>
              </c:strCache>
            </c:strRef>
          </c:tx>
          <c:spPr>
            <a:solidFill>
              <a:srgbClr val="BFBFBF"/>
            </a:solidFill>
            <a:ln w="9525">
              <a:solidFill>
                <a:srgbClr val="202020"/>
              </a:solidFill>
            </a:ln>
          </c:spPr>
          <c:invertIfNegative val="1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404040"/>
                    </a:solidFill>
                    <a:latin typeface="Calibri"/>
                  </a:defRPr>
                </a:pPr>
                <a:endParaRPr lang="en-T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2-class</c:v>
                </c:pt>
                <c:pt idx="1">
                  <c:v>3-class</c:v>
                </c:pt>
                <c:pt idx="2">
                  <c:v>4-class</c:v>
                </c:pt>
                <c:pt idx="3">
                  <c:v>5-class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0.98629999999999995</c:v>
                </c:pt>
                <c:pt idx="1">
                  <c:v>0.93859999999999999</c:v>
                </c:pt>
                <c:pt idx="2">
                  <c:v>0.79</c:v>
                </c:pt>
                <c:pt idx="3">
                  <c:v>0.78669999999999995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>
                    <a:solidFill>
                      <a:srgbClr val="202020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5EA7-B64F-8651-9FAE35B419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300">
                <a:solidFill>
                  <a:srgbClr val="404040"/>
                </a:solidFill>
                <a:latin typeface="Calibri"/>
              </a:defRPr>
            </a:pPr>
            <a:endParaRPr lang="en-T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.05"/>
          <c:min val="0.5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300">
                <a:solidFill>
                  <a:srgbClr val="404040"/>
                </a:solidFill>
                <a:latin typeface="Calibri"/>
              </a:defRPr>
            </a:pPr>
            <a:endParaRPr lang="en-T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404040"/>
              </a:solidFill>
              <a:latin typeface="Calibri"/>
            </a:defRPr>
          </a:pPr>
          <a:endParaRPr lang="en-T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0A3CB-6D83-4943-B668-519CFCF79629}" type="datetimeFigureOut">
              <a:rPr lang="en-TR" smtClean="0"/>
              <a:t>24.05.2026</a:t>
            </a:fld>
            <a:endParaRPr lang="en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C98723-0C31-4D42-919C-E4C19B599C8B}" type="slidenum">
              <a:rPr lang="en-TR" smtClean="0"/>
              <a:t>‹#›</a:t>
            </a:fld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2055775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C98723-0C31-4D42-919C-E4C19B599C8B}" type="slidenum">
              <a:rPr lang="en-TR" smtClean="0"/>
              <a:t>1</a:t>
            </a:fld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2812717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0"/>
            <a:ext cx="2743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707070"/>
                </a:solidFill>
                <a:latin typeface="Calibri"/>
              </a:rPr>
              <a:t>CMP682 —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468880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>
                <a:solidFill>
                  <a:srgbClr val="000000"/>
                </a:solidFill>
                <a:latin typeface="Georgia"/>
              </a:rPr>
              <a:t>MissVARPath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1">
                <a:solidFill>
                  <a:srgbClr val="202020"/>
                </a:solidFill>
                <a:latin typeface="Georgia"/>
              </a:rPr>
              <a:t>Missense Variant Pathogenicity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2120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Calibri"/>
              </a:rPr>
              <a:t>Doruk Topcu  ·  Alihan Sağöz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707070"/>
                </a:solidFill>
                <a:latin typeface="Calibri"/>
              </a:rPr>
              <a:t>Hacettepe University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Three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04040"/>
                </a:solidFill>
                <a:latin typeface="Calibri"/>
              </a:rPr>
              <a:t>Every missense variant goes through a battery of in-silico predictors — PolyPhen-2, SIFT, REVEL, CADD, AlphaMissense, DITTO. Each disagrees with the others; most were trained on overlapping ClinVar data — the same database we use to label our targets.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000000"/>
                </a:solidFill>
                <a:latin typeface="Georgia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92608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202020"/>
                </a:solidFill>
                <a:latin typeface="Calibri"/>
              </a:rPr>
              <a:t>Can a meta-classifier do better than any single predictor by combining them?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000000"/>
                </a:solidFill>
                <a:latin typeface="Georgia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411480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202020"/>
                </a:solidFill>
                <a:latin typeface="Calibri"/>
              </a:rPr>
              <a:t>How much of any improvement is data-circularity — predictors trained on ClinVar, evaluated on ClinVar?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000000"/>
                </a:solidFill>
                <a:latin typeface="Georgia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0352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202020"/>
                </a:solidFill>
                <a:latin typeface="Calibri"/>
              </a:rPr>
              <a:t>Can we predict pathogenicity from raw data alone — without using any pre-existing predictor's score?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288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631" y="649357"/>
            <a:ext cx="5943600" cy="57965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800" b="1" i="0" dirty="0">
                <a:solidFill>
                  <a:srgbClr val="000000"/>
                </a:solidFill>
                <a:latin typeface="Georgia"/>
              </a:rPr>
              <a:t>21,872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500" b="0" i="0" dirty="0" err="1">
                <a:solidFill>
                  <a:srgbClr val="707070"/>
                </a:solidFill>
                <a:latin typeface="Calibri"/>
              </a:rPr>
              <a:t>ClinVar</a:t>
            </a:r>
            <a:r>
              <a:rPr sz="1500" b="0" i="0" dirty="0">
                <a:solidFill>
                  <a:srgbClr val="707070"/>
                </a:solidFill>
                <a:latin typeface="Calibri"/>
              </a:rPr>
              <a:t> </a:t>
            </a:r>
            <a:r>
              <a:rPr lang="tr-TR" sz="1500" b="0" i="0" dirty="0" err="1">
                <a:solidFill>
                  <a:srgbClr val="707070"/>
                </a:solidFill>
                <a:latin typeface="Calibri"/>
              </a:rPr>
              <a:t>found</a:t>
            </a:r>
            <a:r>
              <a:rPr lang="tr-TR" sz="1500" b="0" i="0" dirty="0">
                <a:solidFill>
                  <a:srgbClr val="707070"/>
                </a:solidFill>
                <a:latin typeface="Calibri"/>
              </a:rPr>
              <a:t> -&gt;</a:t>
            </a:r>
            <a:r>
              <a:rPr sz="1500" b="0" i="0" dirty="0">
                <a:solidFill>
                  <a:srgbClr val="707070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707070"/>
                </a:solidFill>
                <a:latin typeface="Calibri"/>
              </a:rPr>
              <a:t>OpenCRAVAT</a:t>
            </a:r>
            <a:r>
              <a:rPr sz="1500" b="0" i="0" dirty="0">
                <a:solidFill>
                  <a:srgbClr val="707070"/>
                </a:solidFill>
                <a:latin typeface="Calibri"/>
              </a:rPr>
              <a:t> </a:t>
            </a:r>
            <a:r>
              <a:rPr lang="tr-TR" sz="1500" b="0" i="0" dirty="0" err="1">
                <a:solidFill>
                  <a:srgbClr val="707070"/>
                </a:solidFill>
                <a:latin typeface="Calibri"/>
              </a:rPr>
              <a:t>annotated</a:t>
            </a:r>
            <a:r>
              <a:rPr lang="tr-TR" sz="1500" b="0" i="0" dirty="0">
                <a:solidFill>
                  <a:srgbClr val="707070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707070"/>
                </a:solidFill>
                <a:latin typeface="Calibri"/>
              </a:rPr>
              <a:t>missense variants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200" b="1" i="0" dirty="0">
                <a:solidFill>
                  <a:srgbClr val="000000"/>
                </a:solidFill>
                <a:latin typeface="Georgia"/>
              </a:rPr>
              <a:t>5,468  ×  4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500" b="0" i="0" dirty="0">
                <a:solidFill>
                  <a:srgbClr val="707070"/>
                </a:solidFill>
                <a:latin typeface="Calibri"/>
              </a:rPr>
              <a:t>perfectly balanced 4-class — Benign / Likely-benign / Likely-pathogenic / Pathogenic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200" b="1" i="0" dirty="0">
                <a:solidFill>
                  <a:srgbClr val="000000"/>
                </a:solidFill>
                <a:latin typeface="Georgia"/>
              </a:rPr>
              <a:t>777  →  208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500" b="0" i="0" dirty="0">
                <a:solidFill>
                  <a:srgbClr val="707070"/>
                </a:solidFill>
                <a:latin typeface="Calibri"/>
              </a:rPr>
              <a:t>raw schema  →  numerical features after preprocessing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200" b="1" i="0" dirty="0">
                <a:solidFill>
                  <a:srgbClr val="000000"/>
                </a:solidFill>
                <a:latin typeface="Georgia"/>
              </a:rPr>
              <a:t>5,428</a:t>
            </a:r>
            <a:endParaRPr lang="tr-TR" sz="4200" b="1" dirty="0">
              <a:solidFill>
                <a:srgbClr val="000000"/>
              </a:solidFill>
              <a:latin typeface="Georgia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 dirty="0">
                <a:solidFill>
                  <a:srgbClr val="707070"/>
                </a:solidFill>
                <a:latin typeface="Calibri"/>
              </a:rPr>
              <a:t>V</a:t>
            </a:r>
            <a:r>
              <a:rPr lang="tr-TR" sz="1500" b="0" i="0" dirty="0" err="1">
                <a:solidFill>
                  <a:srgbClr val="707070"/>
                </a:solidFill>
                <a:latin typeface="Calibri"/>
              </a:rPr>
              <a:t>ariants</a:t>
            </a:r>
            <a:r>
              <a:rPr lang="tr-TR" sz="1500" b="0" i="0" dirty="0">
                <a:solidFill>
                  <a:srgbClr val="707070"/>
                </a:solidFill>
                <a:latin typeface="Calibri"/>
              </a:rPr>
              <a:t> of </a:t>
            </a:r>
            <a:r>
              <a:rPr lang="tr-TR" sz="1500" dirty="0" err="1">
                <a:solidFill>
                  <a:srgbClr val="707070"/>
                </a:solidFill>
                <a:latin typeface="Calibri"/>
              </a:rPr>
              <a:t>unknown</a:t>
            </a:r>
            <a:r>
              <a:rPr lang="tr-TR" sz="1500" dirty="0">
                <a:solidFill>
                  <a:srgbClr val="707070"/>
                </a:solidFill>
                <a:latin typeface="Calibri"/>
              </a:rPr>
              <a:t> </a:t>
            </a:r>
            <a:r>
              <a:rPr lang="tr-TR" sz="1500" dirty="0" err="1">
                <a:solidFill>
                  <a:srgbClr val="707070"/>
                </a:solidFill>
                <a:latin typeface="Calibri"/>
              </a:rPr>
              <a:t>significance</a:t>
            </a:r>
            <a:r>
              <a:rPr lang="tr-TR" sz="1500" dirty="0">
                <a:solidFill>
                  <a:srgbClr val="707070"/>
                </a:solidFill>
                <a:latin typeface="Calibri"/>
              </a:rPr>
              <a:t> (VUS)</a:t>
            </a:r>
            <a:r>
              <a:rPr sz="1500" b="0" i="0" dirty="0">
                <a:solidFill>
                  <a:srgbClr val="707070"/>
                </a:solidFill>
                <a:latin typeface="Calibri"/>
              </a:rPr>
              <a:t> rows in the curated</a:t>
            </a:r>
            <a:r>
              <a:rPr lang="tr-TR" sz="1500" dirty="0">
                <a:solidFill>
                  <a:srgbClr val="707070"/>
                </a:solidFill>
                <a:latin typeface="Calibri"/>
              </a:rPr>
              <a:t> </a:t>
            </a:r>
            <a:r>
              <a:rPr lang="tr-TR" sz="1500" dirty="0" err="1">
                <a:solidFill>
                  <a:srgbClr val="707070"/>
                </a:solidFill>
                <a:latin typeface="Calibri"/>
              </a:rPr>
              <a:t>dataset</a:t>
            </a:r>
            <a:endParaRPr sz="1500" b="0" i="0" dirty="0">
              <a:solidFill>
                <a:srgbClr val="70707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937760" cy="257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 dirty="0">
                <a:solidFill>
                  <a:srgbClr val="707070"/>
                </a:solidFill>
                <a:latin typeface="Calibri"/>
              </a:rPr>
              <a:t>Four</a:t>
            </a:r>
            <a:r>
              <a:rPr lang="tr-TR" sz="1400" b="0" i="1" dirty="0">
                <a:solidFill>
                  <a:srgbClr val="707070"/>
                </a:solidFill>
                <a:latin typeface="Calibri"/>
              </a:rPr>
              <a:t> </a:t>
            </a:r>
            <a:r>
              <a:rPr lang="tr-TR" sz="1400" b="0" i="1" dirty="0" err="1">
                <a:solidFill>
                  <a:srgbClr val="707070"/>
                </a:solidFill>
                <a:latin typeface="Calibri"/>
              </a:rPr>
              <a:t>classification</a:t>
            </a:r>
            <a:r>
              <a:rPr sz="1400" b="0" i="1" dirty="0">
                <a:solidFill>
                  <a:srgbClr val="707070"/>
                </a:solidFill>
                <a:latin typeface="Calibri"/>
              </a:rPr>
              <a:t> task definitions used in the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645920"/>
            <a:ext cx="4937760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Georgia"/>
              </a:rPr>
              <a:t>4-class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400" b="0" i="0">
                <a:solidFill>
                  <a:srgbClr val="707070"/>
                </a:solidFill>
                <a:latin typeface="Calibri"/>
              </a:rPr>
              <a:t>original ClinVar label space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Georgia"/>
              </a:rPr>
              <a:t>2-class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400" b="0" i="0">
                <a:solidFill>
                  <a:srgbClr val="707070"/>
                </a:solidFill>
                <a:latin typeface="Calibri"/>
              </a:rPr>
              <a:t>Likely-* collapsed into definitive labels → 10,936 / 10,936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Georgia"/>
              </a:rPr>
              <a:t>3-class (with VUS)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400" b="0" i="0">
                <a:solidFill>
                  <a:srgbClr val="707070"/>
                </a:solidFill>
                <a:latin typeface="Calibri"/>
              </a:rPr>
              <a:t>Benign-side / Pathogenic-side / VUS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Georgia"/>
              </a:rPr>
              <a:t>5-class (with VUS)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707070"/>
                </a:solidFill>
                <a:latin typeface="Calibri"/>
              </a:rPr>
              <a:t>all four ClinVar labels + VUS — essentially balanced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Label balance —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5,468 rows per ClinVar class in the 4-class space; 10,936 / 10,936 in the 2-class collapse. Any class-imbalance effect is gone by construction.</a:t>
            </a:r>
          </a:p>
        </p:txBody>
      </p:sp>
      <p:pic>
        <p:nvPicPr>
          <p:cNvPr id="4" name="Picture 3" descr="labe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32720" cy="3757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Missingness across the 777-column raw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Per-column missing fraction. Everything above the 50% threshold is dropped during preprocessing — 134 columns lost that way. 208 numerical features survive.</a:t>
            </a:r>
          </a:p>
        </p:txBody>
      </p:sp>
      <p:pic>
        <p:nvPicPr>
          <p:cNvPr id="4" name="Picture 3" descr="missingness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1828800"/>
            <a:ext cx="841248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Do the predictor scores actually separate classes?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Boxplots of headline VEP scores stratified by the 4-class label. DITTO, MetaRNN, REVEL, AlphaMissense all separate cleanly; gnomAD AF runs the other way — high frequency means benign (the ACMG BS1 rule).</a:t>
            </a:r>
          </a:p>
        </p:txBody>
      </p:sp>
      <p:pic>
        <p:nvPicPr>
          <p:cNvPr id="4" name="Picture 3" descr="key_vep_scores_by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1920240"/>
            <a:ext cx="525780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707070"/>
                </a:solidFill>
                <a:latin typeface="Calibri"/>
              </a:rPr>
              <a:t>Model suite — 10 estimators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48640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 dirty="0">
                <a:solidFill>
                  <a:srgbClr val="202020"/>
                </a:solidFill>
                <a:latin typeface="Calibri"/>
              </a:rPr>
              <a:t>Classical / linear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 dirty="0">
                <a:solidFill>
                  <a:srgbClr val="404040"/>
                </a:solidFill>
                <a:latin typeface="Calibri"/>
              </a:rPr>
              <a:t>KNN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 dirty="0" err="1">
                <a:solidFill>
                  <a:srgbClr val="404040"/>
                </a:solidFill>
                <a:latin typeface="Calibri"/>
              </a:rPr>
              <a:t>NearestCentroid</a:t>
            </a:r>
            <a:endParaRPr sz="1500" b="0" i="0" dirty="0">
              <a:solidFill>
                <a:srgbClr val="404040"/>
              </a:solidFill>
              <a:latin typeface="Calibri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 dirty="0" err="1">
                <a:solidFill>
                  <a:srgbClr val="404040"/>
                </a:solidFill>
                <a:latin typeface="Calibri"/>
              </a:rPr>
              <a:t>CosineSimilarity</a:t>
            </a:r>
            <a:r>
              <a:rPr sz="1500" b="0" i="0" dirty="0">
                <a:solidFill>
                  <a:srgbClr val="404040"/>
                </a:solidFill>
                <a:latin typeface="Calibri"/>
              </a:rPr>
              <a:t> (custom)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 dirty="0" err="1">
                <a:solidFill>
                  <a:srgbClr val="404040"/>
                </a:solidFill>
                <a:latin typeface="Calibri"/>
              </a:rPr>
              <a:t>DecisionTree</a:t>
            </a:r>
            <a:endParaRPr sz="1500" b="0" i="0" dirty="0">
              <a:solidFill>
                <a:srgbClr val="404040"/>
              </a:solidFill>
              <a:latin typeface="Calibri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 dirty="0">
                <a:solidFill>
                  <a:srgbClr val="404040"/>
                </a:solidFill>
                <a:latin typeface="Calibri"/>
              </a:rPr>
              <a:t>LDA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 dirty="0">
                <a:solidFill>
                  <a:srgbClr val="404040"/>
                </a:solidFill>
                <a:latin typeface="Calibri"/>
              </a:rPr>
              <a:t>QDA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 dirty="0" err="1">
                <a:solidFill>
                  <a:srgbClr val="404040"/>
                </a:solidFill>
                <a:latin typeface="Calibri"/>
              </a:rPr>
              <a:t>LinearSVC</a:t>
            </a:r>
            <a:endParaRPr sz="1500" b="0" i="0" dirty="0">
              <a:solidFill>
                <a:srgbClr val="404040"/>
              </a:solidFill>
              <a:latin typeface="Calibri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 dirty="0" err="1">
                <a:solidFill>
                  <a:srgbClr val="404040"/>
                </a:solidFill>
                <a:latin typeface="Calibri"/>
              </a:rPr>
              <a:t>RidgeClassifier</a:t>
            </a:r>
            <a:endParaRPr sz="1500" b="0" i="0" dirty="0">
              <a:solidFill>
                <a:srgbClr val="404040"/>
              </a:solidFill>
              <a:latin typeface="Calibri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 dirty="0" err="1">
                <a:solidFill>
                  <a:srgbClr val="404040"/>
                </a:solidFill>
                <a:latin typeface="Calibri"/>
              </a:rPr>
              <a:t>SGDClassifier</a:t>
            </a:r>
            <a:endParaRPr sz="1500" b="0" i="0" dirty="0">
              <a:solidFill>
                <a:srgbClr val="404040"/>
              </a:solidFill>
              <a:latin typeface="Calibri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 i="0" dirty="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 dirty="0">
                <a:solidFill>
                  <a:srgbClr val="202020"/>
                </a:solidFill>
                <a:latin typeface="Calibri"/>
              </a:rPr>
              <a:t>Ensembles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 dirty="0" err="1">
                <a:solidFill>
                  <a:srgbClr val="404040"/>
                </a:solidFill>
                <a:latin typeface="Calibri"/>
              </a:rPr>
              <a:t>HistGradientBoosting</a:t>
            </a:r>
            <a:endParaRPr sz="1500" b="0" i="0" dirty="0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0" y="10972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707070"/>
                </a:solidFill>
                <a:latin typeface="Calibri"/>
              </a:rPr>
              <a:t>Evaluation regimes — 5 cuts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02020"/>
                </a:solidFill>
                <a:latin typeface="Calibri"/>
              </a:rPr>
              <a:t>Canonical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164592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stratified 80/20 holdout + 5-fold 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02020"/>
                </a:solidFill>
                <a:latin typeface="Calibri"/>
              </a:rPr>
              <a:t>Augmented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8600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+ 196 k-mer + 10 BLAST locus-neighbour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9260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02020"/>
                </a:solidFill>
                <a:latin typeface="Calibri"/>
              </a:rPr>
              <a:t>Gene-stratified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92608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no gene appears in both train and test folds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56616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02020"/>
                </a:solidFill>
                <a:latin typeface="Calibri"/>
              </a:rPr>
              <a:t>No-VEP / VUS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356616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drop every learned-predictor + conservation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2062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02020"/>
                </a:solidFill>
                <a:latin typeface="Calibri"/>
              </a:rPr>
              <a:t>Raw-only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420624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keep only population AF, position, sequence composition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RANDOM_STATE = 42 throughout. Per-model grid-search tuning by 5-fold CV macro-F1 on the training portion; tuning performed on the 4-class task, hyperparameters carried over to the binary task.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12633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 dirty="0">
                <a:solidFill>
                  <a:srgbClr val="000000"/>
                </a:solidFill>
                <a:latin typeface="Georgia"/>
              </a:rPr>
              <a:t>Headline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55660"/>
            <a:ext cx="50292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tr-TR" sz="1500" i="1" dirty="0">
                <a:solidFill>
                  <a:srgbClr val="707070"/>
                </a:solidFill>
                <a:latin typeface="Calibri"/>
              </a:rPr>
              <a:t>5</a:t>
            </a:r>
            <a:r>
              <a:rPr sz="1500" b="0" i="1" dirty="0">
                <a:solidFill>
                  <a:srgbClr val="707070"/>
                </a:solidFill>
                <a:latin typeface="Calibri"/>
              </a:rPr>
              <a:t>-class macro-F1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120" y="733916"/>
            <a:ext cx="502920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0" b="1" i="0" dirty="0">
                <a:solidFill>
                  <a:srgbClr val="000000"/>
                </a:solidFill>
                <a:latin typeface="Georgia"/>
              </a:rPr>
              <a:t>0.79</a:t>
            </a:r>
            <a:r>
              <a:rPr lang="tr-TR" sz="8000" b="1" i="0" dirty="0">
                <a:solidFill>
                  <a:srgbClr val="000000"/>
                </a:solidFill>
                <a:latin typeface="Georgia"/>
              </a:rPr>
              <a:t>8</a:t>
            </a:r>
            <a:endParaRPr sz="8000" b="1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212949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 err="1">
                <a:solidFill>
                  <a:srgbClr val="707070"/>
                </a:solidFill>
                <a:latin typeface="Calibri"/>
              </a:rPr>
              <a:t>HistGradientBoosting</a:t>
            </a:r>
            <a:r>
              <a:rPr sz="1300" b="0" i="0" dirty="0">
                <a:solidFill>
                  <a:srgbClr val="707070"/>
                </a:solidFill>
                <a:latin typeface="Calibri"/>
              </a:rPr>
              <a:t> · 21,872 variants · 208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7121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 dirty="0">
                <a:solidFill>
                  <a:srgbClr val="707070"/>
                </a:solidFill>
                <a:latin typeface="Calibri"/>
              </a:rPr>
              <a:t>2-class macro-F1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77240"/>
            <a:ext cx="50292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0" b="1" i="0" dirty="0">
                <a:solidFill>
                  <a:srgbClr val="000000"/>
                </a:solidFill>
                <a:latin typeface="Georgia"/>
              </a:rPr>
              <a:t>0.987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320" y="212949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707070"/>
                </a:solidFill>
                <a:latin typeface="Calibri"/>
              </a:rPr>
              <a:t>HistGradientBoosting · 10,936 / 10,936 collapse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7659136"/>
              </p:ext>
            </p:extLst>
          </p:nvPr>
        </p:nvGraphicFramePr>
        <p:xfrm>
          <a:off x="495632" y="3840480"/>
          <a:ext cx="1106424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8 / 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01F97D-939B-6D84-D984-90B16D164D55}"/>
              </a:ext>
            </a:extLst>
          </p:cNvPr>
          <p:cNvSpPr txBox="1"/>
          <p:nvPr/>
        </p:nvSpPr>
        <p:spPr>
          <a:xfrm>
            <a:off x="495632" y="2619226"/>
            <a:ext cx="11064240" cy="4828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 dirty="0">
                <a:solidFill>
                  <a:srgbClr val="000000"/>
                </a:solidFill>
                <a:latin typeface="Georgia"/>
              </a:rPr>
              <a:t>Per-model leaderboard — </a:t>
            </a:r>
            <a:r>
              <a:rPr lang="tr-TR" sz="3200" b="1" i="0" dirty="0">
                <a:solidFill>
                  <a:srgbClr val="000000"/>
                </a:solidFill>
                <a:latin typeface="Georgia"/>
              </a:rPr>
              <a:t>4</a:t>
            </a:r>
            <a:r>
              <a:rPr sz="3200" b="1" i="0" dirty="0">
                <a:solidFill>
                  <a:srgbClr val="000000"/>
                </a:solidFill>
                <a:latin typeface="Georgia"/>
              </a:rPr>
              <a:t>-class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EB4BF7-725D-1A05-2485-E30D9ED31950}"/>
              </a:ext>
            </a:extLst>
          </p:cNvPr>
          <p:cNvSpPr txBox="1"/>
          <p:nvPr/>
        </p:nvSpPr>
        <p:spPr>
          <a:xfrm>
            <a:off x="495632" y="3442186"/>
            <a:ext cx="50292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tr-TR" sz="1500" i="1" dirty="0">
                <a:solidFill>
                  <a:srgbClr val="707070"/>
                </a:solidFill>
                <a:latin typeface="Calibri"/>
              </a:rPr>
              <a:t>4</a:t>
            </a:r>
            <a:r>
              <a:rPr sz="1500" b="0" i="1" dirty="0">
                <a:solidFill>
                  <a:srgbClr val="707070"/>
                </a:solidFill>
                <a:latin typeface="Calibri"/>
              </a:rPr>
              <a:t>-class macro-F1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 dirty="0">
                <a:solidFill>
                  <a:srgbClr val="000000"/>
                </a:solidFill>
                <a:latin typeface="Georgia"/>
              </a:rPr>
              <a:t>Per-model leaderboard — 2-class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707070"/>
                </a:solidFill>
                <a:latin typeface="Calibri"/>
              </a:rPr>
              <a:t>2-class macro-F1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029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0" b="1" i="0">
                <a:solidFill>
                  <a:srgbClr val="000000"/>
                </a:solidFill>
                <a:latin typeface="Georgia"/>
              </a:rPr>
              <a:t>0.987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707070"/>
                </a:solidFill>
                <a:latin typeface="Calibri"/>
              </a:rPr>
              <a:t>HistGradientBoosting · binary collapse · 21,872 variants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52160" y="1188720"/>
          <a:ext cx="5943600" cy="512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Per-model leaderboard — 3-class with VUS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707070"/>
                </a:solidFill>
                <a:latin typeface="Calibri"/>
              </a:rPr>
              <a:t>3-class macro-F1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029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0" b="1" i="0">
                <a:solidFill>
                  <a:srgbClr val="000000"/>
                </a:solidFill>
                <a:latin typeface="Georgia"/>
              </a:rPr>
              <a:t>0.946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707070"/>
                </a:solidFill>
                <a:latin typeface="Calibri"/>
              </a:rPr>
              <a:t>HistGradientBoosting · Benign-side / Pathogenic-side / VUS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52160" y="1188720"/>
          <a:ext cx="5943600" cy="512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Per-model leaderboard — 5-class with VUS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707070"/>
                </a:solidFill>
                <a:latin typeface="Calibri"/>
              </a:rPr>
              <a:t>5-class macro-F1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029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0" b="1" i="0">
                <a:solidFill>
                  <a:srgbClr val="000000"/>
                </a:solidFill>
                <a:latin typeface="Georgia"/>
              </a:rPr>
              <a:t>0.798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707070"/>
                </a:solidFill>
                <a:latin typeface="Calibri"/>
              </a:rPr>
              <a:t>HistGradientBoosting · 4 ClinVar classes + VUS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52160" y="1188720"/>
          <a:ext cx="5943600" cy="512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Where the error lives — 4-class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Held-out, row-normalized. Definitive Benign / Pathogenic call near-perfect (&gt;0.93 / 0.79). Residual difficulty is the Pathogenic ↔ Likely-pathogenic boundary.</a:t>
            </a:r>
          </a:p>
        </p:txBody>
      </p:sp>
      <p:pic>
        <p:nvPicPr>
          <p:cNvPr id="4" name="Picture 3" descr="histgb_4class_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508" y="1835426"/>
            <a:ext cx="54864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Stress tests — bounding the data-circularity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707070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 marL="137160" marR="137160" marT="54864" marB="54864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707070"/>
                          </a:solidFill>
                          <a:latin typeface="Calibri"/>
                        </a:rPr>
                        <a:t>4-class F1</a:t>
                      </a:r>
                    </a:p>
                  </a:txBody>
                  <a:tcPr marL="137160" marR="137160" marT="54864" marB="54864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707070"/>
                          </a:solidFill>
                          <a:latin typeface="Calibri"/>
                        </a:rPr>
                        <a:t>2-class F1</a:t>
                      </a:r>
                    </a:p>
                  </a:txBody>
                  <a:tcPr marL="137160" marR="137160" marT="54864" marB="54864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Canonical tuned (headline)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0.795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000000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Augmented (k-mer + BLAST)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0.795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0.990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Gene-stratified CV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0.766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No-VEP, k-fold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0.773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0.976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No-VEP, gene-stratified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0.761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Raw-only (no predictor, no conservation)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0.721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0.934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DITTO removed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137160" marR="137160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202020"/>
                </a:solidFill>
                <a:latin typeface="Calibri"/>
              </a:rPr>
              <a:t>Graceful degradation across regimes: HistGB loses 0.027 to gene-stratified CV, 0.022 to no-VEP, 0.074 to raw-only. The 2-class task is essentially insensitive to all stresses.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Real VUS deployment — per-gene predictions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Top-20 most-frequent genes in the 5,468-variant pro-set, stacked by 4-class prediction. GCK 100%, PAH 99%, MYH7 90%, LDLR 84% pathogenic-side.</a:t>
            </a:r>
          </a:p>
        </p:txBody>
      </p:sp>
      <p:pic>
        <p:nvPicPr>
          <p:cNvPr id="4" name="Picture 3" descr="vus_per_gene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162" y="1828800"/>
            <a:ext cx="4909195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VUS deployment — the four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Applying the tuned HistGradientBoosting to 5,468 strict-VUS variants annotated through the same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000000"/>
                </a:solidFill>
                <a:latin typeface="Georgia"/>
              </a:rPr>
              <a:t>62% / 38%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5212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04040"/>
                </a:solidFill>
                <a:latin typeface="Calibri"/>
              </a:rPr>
              <a:t>pathogenic-side / benign-side split on 2-class 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000000"/>
                </a:solidFill>
                <a:latin typeface="Georgia"/>
              </a:rPr>
              <a:t>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26080"/>
            <a:ext cx="5212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04040"/>
                </a:solidFill>
                <a:latin typeface="Calibri"/>
              </a:rPr>
              <a:t>of predictions have max probability &gt; 0.9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000000"/>
                </a:solidFill>
                <a:latin typeface="Georgia"/>
              </a:rPr>
              <a:t>87%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5212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04040"/>
                </a:solidFill>
                <a:latin typeface="Calibri"/>
              </a:rPr>
              <a:t>of 4-class predictions hedge into Likely-* — only 13% definitive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297680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000000"/>
                </a:solidFill>
                <a:latin typeface="Georgia"/>
              </a:rPr>
              <a:t>95.4%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394960"/>
            <a:ext cx="5212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04040"/>
                </a:solidFill>
                <a:latin typeface="Calibri"/>
              </a:rPr>
              <a:t>cross-task agreement (4-class collapsed vs. 2-class head)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VUS as 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707070"/>
                </a:solidFill>
                <a:latin typeface="Calibri"/>
              </a:rPr>
              <a:t>With VUS added as a labelled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404040"/>
                </a:solidFill>
                <a:latin typeface="Calibri"/>
              </a:rPr>
              <a:t>2-class no-VUS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64592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 b="1" i="0">
                <a:solidFill>
                  <a:srgbClr val="000000"/>
                </a:solidFill>
                <a:latin typeface="Georgia"/>
              </a:rPr>
              <a:t>0.987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404040"/>
                </a:solidFill>
                <a:latin typeface="Calibri"/>
              </a:rPr>
              <a:t>3-class with VUS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4028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 b="1" i="0">
                <a:solidFill>
                  <a:srgbClr val="000000"/>
                </a:solidFill>
                <a:latin typeface="Georgia"/>
              </a:rPr>
              <a:t>0.946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404040"/>
                </a:solidFill>
                <a:latin typeface="Calibri"/>
              </a:rPr>
              <a:t>4-class no-VUS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83464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 b="1" i="0">
                <a:solidFill>
                  <a:srgbClr val="000000"/>
                </a:solidFill>
                <a:latin typeface="Georgia"/>
              </a:rPr>
              <a:t>0.795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404040"/>
                </a:solidFill>
                <a:latin typeface="Calibri"/>
              </a:rPr>
              <a:t>5-class with VUS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4290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400" b="1" i="0">
                <a:solidFill>
                  <a:srgbClr val="000000"/>
                </a:solidFill>
                <a:latin typeface="Georgia"/>
              </a:rPr>
              <a:t>0.798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06240"/>
            <a:ext cx="5486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02020"/>
                </a:solidFill>
                <a:latin typeface="Calibri"/>
              </a:rPr>
              <a:t>Adding VUS as a 5th class does NOT hurt overall macro-F1 — it slightly improves it. MCC improves by +0.022.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400800" y="1188720"/>
          <a:ext cx="54864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0" y="557784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02020"/>
                </a:solidFill>
                <a:latin typeface="Calibri"/>
              </a:rPr>
              <a:t>VUS reaches F1 = 0.901 — between Benign and Likely-benign in difficulty. One of the cleanest classes to recognise.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5-class confusion matrix — where VUS sits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Held-out, row-normalized. VUS row reaches 0.94 diagonal — cleaner than Pathogenic (0.64) or Likely-pathogenic (0.61). VUS misclassifications hedge into Likely-*, not into definitive calls.</a:t>
            </a:r>
          </a:p>
        </p:txBody>
      </p:sp>
      <p:pic>
        <p:nvPicPr>
          <p:cNvPr id="4" name="Picture 3" descr="histgradientboosting_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828800"/>
            <a:ext cx="54864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What drives the booster — SHAP top-30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Canonical 4-class HistGradientBoosting. DITTO leads, MetaRNN second, then population allele frequencies — the model is using both predictor scores and frequency data.</a:t>
            </a:r>
          </a:p>
        </p:txBody>
      </p:sp>
      <p:pic>
        <p:nvPicPr>
          <p:cNvPr id="4" name="Picture 3" descr="shap_bar_4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760" y="1828800"/>
            <a:ext cx="4064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Predictor correlation — the redundancy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Pearson correlation among key VEP scores + gnomAD AF. Predictor scores form a tight cluster; gnomAD AF sits in its own corner — the structural reason predictors substitute for each other, but population AF does not.</a:t>
            </a:r>
          </a:p>
        </p:txBody>
      </p:sp>
      <p:pic>
        <p:nvPicPr>
          <p:cNvPr id="4" name="Picture 3" descr="key_vep_score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228600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Useful vs. waste — feature ablation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T="27432" marB="2743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4-class</a:t>
                      </a:r>
                    </a:p>
                  </a:txBody>
                  <a:tcPr marT="27432" marB="2743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2-class</a:t>
                      </a:r>
                    </a:p>
                  </a:txBody>
                  <a:tcPr marT="27432" marB="2743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5-class</a:t>
                      </a:r>
                    </a:p>
                  </a:txBody>
                  <a:tcPr marT="27432" marB="2743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3-class</a:t>
                      </a:r>
                    </a:p>
                  </a:txBody>
                  <a:tcPr marT="27432" marB="2743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n feat</a:t>
                      </a:r>
                    </a:p>
                  </a:txBody>
                  <a:tcPr marT="27432" marB="27432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population_af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+0.0471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+0.0025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+0.0405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+0.0054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-0.0012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+0.0266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+0.0469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other_vep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+0.0133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-0.0002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+0.0137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+0.0073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cadd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-0.0054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-0.0015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ditto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+0.0039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+0.0046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+0.0033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metarnn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+0.0014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+0.0045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bayesdel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-0.0045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-0.0002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-0.0003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-0.0044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+0.0018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revel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-0.0018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-0.0044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-0.0015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chasmplus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+0.0011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+0.0028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-0.0002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alphamissense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-0.0015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-0.0028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-0.0017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conservation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+0.0018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-0.0007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-0.0001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+0.0000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70707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707070"/>
                </a:solidFill>
                <a:latin typeface="Calibri"/>
              </a:rPr>
              <a:t>Greyed rows: HistGB |Δ| &lt; 0.005 across every task. 8 of 12 groups (97 of 208 features) are waste at the group level.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Per-feature permutation — the redundancy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02020"/>
                </a:solidFill>
                <a:latin typeface="Calibri"/>
              </a:rPr>
              <a:t>Removing a 'waste' group is cheap — but individual features inside those groups are still highly predictive. Group LOO measures replaceability, not informativeness.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Georgia"/>
              </a:rPr>
              <a:t>ditto_score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5486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>
                <a:solidFill>
                  <a:srgbClr val="000000"/>
                </a:solidFill>
                <a:latin typeface="Georgia"/>
              </a:rPr>
              <a:t>0.133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707070"/>
                </a:solidFill>
                <a:latin typeface="Calibri"/>
              </a:rPr>
              <a:t>individual macro-F1 weight (4-class)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3774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Georgia"/>
              </a:rPr>
              <a:t>metarnn_score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926080"/>
            <a:ext cx="5486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>
                <a:solidFill>
                  <a:srgbClr val="000000"/>
                </a:solidFill>
                <a:latin typeface="Georgia"/>
              </a:rPr>
              <a:t>0.048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062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707070"/>
                </a:solidFill>
                <a:latin typeface="Calibri"/>
              </a:rPr>
              <a:t>individual macro-F1 weight (4-class)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0352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02020"/>
                </a:solidFill>
                <a:latin typeface="Calibri"/>
              </a:rPr>
              <a:t>Inter-predictor redundancy. Remove DITTO and MetaRNN compensates; remove MetaRNN and DITTO compensates. Only by removing several correlated meta-classifiers together does the redundancy buffer collapse — which is what Lean B exploits.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Lean B — 45% smaller, 0.012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707070"/>
                </a:solidFill>
                <a:latin typeface="Calibri"/>
              </a:rPr>
              <a:t>Lean B drops 95 of 208 features, keeping ditto_score and metarnn_score (the per-feature winners).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828800"/>
          <a:ext cx="110642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202020"/>
                </a:solidFill>
                <a:latin typeface="Calibri"/>
              </a:rPr>
              <a:t>At most 0.012 macro-F1 cost on any task. Several models (KNN, NearestCentroid, CosineSimilarity) actually improve on the lean subset.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00000"/>
                </a:solidFill>
                <a:latin typeface="Georgia"/>
              </a:rPr>
              <a:t>Future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Georgia"/>
              </a:rPr>
              <a:t>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Calibri"/>
              </a:rPr>
              <a:t>Cross-database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replicate Lean B numbers on HGMD or a held-out ClinVar snapshot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Georgia"/>
              </a:rPr>
              <a:t>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Calibri"/>
              </a:rPr>
              <a:t>True homology BLAST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603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blastp on UniRef50 with the amino-acid substitution applied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Georgia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Calibri"/>
              </a:rPr>
              <a:t>Probability calibration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3375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Platt or isotonic regression so predict_proba is a usable risk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Georgia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Calibri"/>
              </a:rPr>
              <a:t>Gene-stratified VUS-as-class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1148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test whether VUS-detection survives without same-gene leakage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Georgia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Calibri"/>
              </a:rPr>
              <a:t>Variant-level error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8920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04040"/>
                </a:solidFill>
                <a:latin typeface="Calibri"/>
              </a:rPr>
              <a:t>manual review of the Pathogenic ↔ Likely-pathogenic confusion region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0"/>
            <a:ext cx="2743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800" b="1" i="0">
                <a:solidFill>
                  <a:srgbClr val="000000"/>
                </a:solidFill>
                <a:latin typeface="Georg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1">
                <a:solidFill>
                  <a:srgbClr val="202020"/>
                </a:solidFill>
                <a:latin typeface="Georgia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035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Calibri"/>
              </a:rPr>
              <a:t>Doruk Topcu  ·  Alihan Sağöz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07070"/>
                </a:solidFill>
                <a:latin typeface="Calibri"/>
              </a:rPr>
              <a:t>github.com/doruktopcu/MissVarPath-Missense-Detection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07070"/>
                </a:solidFill>
                <a:latin typeface="Calibri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1376</Words>
  <Application>Microsoft Macintosh PowerPoint</Application>
  <PresentationFormat>Widescreen</PresentationFormat>
  <Paragraphs>279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DORUK TOPCU</cp:lastModifiedBy>
  <cp:revision>3</cp:revision>
  <dcterms:created xsi:type="dcterms:W3CDTF">2013-01-27T09:14:16Z</dcterms:created>
  <dcterms:modified xsi:type="dcterms:W3CDTF">2026-05-24T15:59:40Z</dcterms:modified>
  <cp:category/>
</cp:coreProperties>
</file>