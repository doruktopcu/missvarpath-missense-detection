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4-class macro-F1</c:v>
                </c:pt>
              </c:strCache>
            </c:strRef>
          </c:tx>
          <c:spPr>
            <a:solidFill>
              <a:srgbClr val="202020"/>
            </a:solidFill>
            <a:ln w="9525">
              <a:solidFill>
                <a:srgbClr val="202020"/>
              </a:solidFill>
            </a:ln>
          </c:spPr>
          <c:cat>
            <c:strRef>
              <c:f>Sheet1!$A$2:$A$8</c:f>
              <c:strCache>
                <c:ptCount val="7"/>
                <c:pt idx="0">
                  <c:v>KNN</c:v>
                </c:pt>
                <c:pt idx="1">
                  <c:v>RidgeClassifier</c:v>
                </c:pt>
                <c:pt idx="2">
                  <c:v>LDA</c:v>
                </c:pt>
                <c:pt idx="3">
                  <c:v>SGDClassifier</c:v>
                </c:pt>
                <c:pt idx="4">
                  <c:v>DecisionTree</c:v>
                </c:pt>
                <c:pt idx="5">
                  <c:v>LinearSVC</c:v>
                </c:pt>
                <c:pt idx="6">
                  <c:v>HistGradientBoosting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0.6597909745251019</c:v>
                </c:pt>
                <c:pt idx="1">
                  <c:v>0.7003232293438628</c:v>
                </c:pt>
                <c:pt idx="2">
                  <c:v>0.702199015949549</c:v>
                </c:pt>
                <c:pt idx="3">
                  <c:v>0.7182084960604684</c:v>
                </c:pt>
                <c:pt idx="4">
                  <c:v>0.7514090067859782</c:v>
                </c:pt>
                <c:pt idx="5">
                  <c:v>0.754933552727006</c:v>
                </c:pt>
                <c:pt idx="6">
                  <c:v>0.7950392616951822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>
                  <a:solidFill>
                    <a:srgbClr val="20202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5"/>
        </c:scaling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Per-class F1 (5-class HistGB)</c:v>
                </c:pt>
              </c:strCache>
            </c:strRef>
          </c:tx>
          <c:spPr>
            <a:solidFill>
              <a:srgbClr val="202020"/>
            </a:solidFill>
            <a:ln w="9525">
              <a:solidFill>
                <a:srgbClr val="202020"/>
              </a:solidFill>
            </a:ln>
          </c:spPr>
          <c:cat>
            <c:strRef>
              <c:f>Sheet1!$A$2:$A$6</c:f>
              <c:strCache>
                <c:ptCount val="5"/>
                <c:pt idx="0">
                  <c:v>Benign</c:v>
                </c:pt>
                <c:pt idx="1">
                  <c:v>Likely benign</c:v>
                </c:pt>
                <c:pt idx="2">
                  <c:v>Likely pathogenic</c:v>
                </c:pt>
                <c:pt idx="3">
                  <c:v>Pathogenic</c:v>
                </c:pt>
                <c:pt idx="4">
                  <c:v>VUS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0.929</c:v>
                </c:pt>
                <c:pt idx="1">
                  <c:v>0.894</c:v>
                </c:pt>
                <c:pt idx="2">
                  <c:v>0.622</c:v>
                </c:pt>
                <c:pt idx="3">
                  <c:v>0.646</c:v>
                </c:pt>
                <c:pt idx="4">
                  <c:v>0.901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>
                  <a:solidFill>
                    <a:srgbClr val="20202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(208 features)</c:v>
                </c:pt>
              </c:strCache>
            </c:strRef>
          </c:tx>
          <c:spPr>
            <a:solidFill>
              <a:srgbClr val="000000"/>
            </a:solidFill>
            <a:ln w="9525">
              <a:solidFill>
                <a:srgbClr val="202020"/>
              </a:solidFill>
            </a:ln>
          </c:spPr>
          <c:cat>
            <c:strRef>
              <c:f>Sheet1!$A$2:$A$5</c:f>
              <c:strCache>
                <c:ptCount val="4"/>
                <c:pt idx="0">
                  <c:v>2-class</c:v>
                </c:pt>
                <c:pt idx="1">
                  <c:v>3-class</c:v>
                </c:pt>
                <c:pt idx="2">
                  <c:v>4-class</c:v>
                </c:pt>
                <c:pt idx="3">
                  <c:v>5-class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0.9872</c:v>
                </c:pt>
                <c:pt idx="1">
                  <c:v>0.9459</c:v>
                </c:pt>
                <c:pt idx="2">
                  <c:v>0.795</c:v>
                </c:pt>
                <c:pt idx="3">
                  <c:v>0.7984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Lean B (113 features)</c:v>
                </c:pt>
              </c:strCache>
            </c:strRef>
          </c:tx>
          <c:spPr>
            <a:solidFill>
              <a:srgbClr val="BFBFBF"/>
            </a:solidFill>
            <a:ln w="9525">
              <a:solidFill>
                <a:srgbClr val="202020"/>
              </a:solidFill>
            </a:ln>
          </c:spPr>
          <c:cat>
            <c:strRef>
              <c:f>Sheet1!$A$2:$A$5</c:f>
              <c:strCache>
                <c:ptCount val="4"/>
                <c:pt idx="0">
                  <c:v>2-class</c:v>
                </c:pt>
                <c:pt idx="1">
                  <c:v>3-class</c:v>
                </c:pt>
                <c:pt idx="2">
                  <c:v>4-class</c:v>
                </c:pt>
                <c:pt idx="3">
                  <c:v>5-class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0.9863</c:v>
                </c:pt>
                <c:pt idx="1">
                  <c:v>0.9386</c:v>
                </c:pt>
                <c:pt idx="2">
                  <c:v>0.79</c:v>
                </c:pt>
                <c:pt idx="3">
                  <c:v>0.7867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40404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300">
                <a:solidFill>
                  <a:srgbClr val="40404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  <c:min val="0.5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300">
                <a:solidFill>
                  <a:srgbClr val="40404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40404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0"/>
            <a:ext cx="2743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CMP682 —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Georgia"/>
              </a:rPr>
              <a:t>MissVARPath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1">
                <a:solidFill>
                  <a:srgbClr val="202020"/>
                </a:solidFill>
                <a:latin typeface="Georgia"/>
              </a:rPr>
              <a:t>Missense Variant Pathogenicity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Doruk Topcu  ·  Alihan Sağöz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07070"/>
                </a:solidFill>
                <a:latin typeface="Calibri"/>
              </a:rPr>
              <a:t>Hacettepe University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Three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04040"/>
                </a:solidFill>
                <a:latin typeface="Calibri"/>
              </a:rPr>
              <a:t>Every missense variant goes through a battery of in-silico predictors — PolyPhen-2, SIFT, REVEL, CADD, AlphaMissense, DITTO. Each disagrees with the others; most were trained on overlapping ClinVar data — the same database we use to label our targets.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Georgia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9260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202020"/>
                </a:solidFill>
                <a:latin typeface="Calibri"/>
              </a:rPr>
              <a:t>Can a meta-classifier do better than any single predictor by combining them?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Georgia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1148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202020"/>
                </a:solidFill>
                <a:latin typeface="Calibri"/>
              </a:rPr>
              <a:t>How much of any improvement is data-circularity — predictors trained on ClinVar, evaluated on ClinVar?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Georgia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3035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202020"/>
                </a:solidFill>
                <a:latin typeface="Calibri"/>
              </a:rPr>
              <a:t>Can we predict pathogenicity from raw data alone — without using any pre-existing predictor's score?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94360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800" b="1" i="0">
                <a:solidFill>
                  <a:srgbClr val="000000"/>
                </a:solidFill>
                <a:latin typeface="Georgia"/>
              </a:rPr>
              <a:t>21,872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500" b="0" i="0">
                <a:solidFill>
                  <a:srgbClr val="707070"/>
                </a:solidFill>
                <a:latin typeface="Calibri"/>
              </a:rPr>
              <a:t>ClinVar / OpenCRAVAT missense variants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200" b="1" i="0">
                <a:solidFill>
                  <a:srgbClr val="000000"/>
                </a:solidFill>
                <a:latin typeface="Georgia"/>
              </a:rPr>
              <a:t>5,468  ×  4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500" b="0" i="0">
                <a:solidFill>
                  <a:srgbClr val="707070"/>
                </a:solidFill>
                <a:latin typeface="Calibri"/>
              </a:rPr>
              <a:t>perfectly balanced 4-class — Benign / Likely-benign / Likely-pathogenic / Pathogenic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200" b="1" i="0">
                <a:solidFill>
                  <a:srgbClr val="000000"/>
                </a:solidFill>
                <a:latin typeface="Georgia"/>
              </a:rPr>
              <a:t>777  →  208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500" b="0" i="0">
                <a:solidFill>
                  <a:srgbClr val="707070"/>
                </a:solidFill>
                <a:latin typeface="Calibri"/>
              </a:rPr>
              <a:t>raw schema  →  numerical features after preprocessing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200" b="1" i="0">
                <a:solidFill>
                  <a:srgbClr val="000000"/>
                </a:solidFill>
                <a:latin typeface="Georgia"/>
              </a:rPr>
              <a:t>5,428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07070"/>
                </a:solidFill>
                <a:latin typeface="Calibri"/>
              </a:rPr>
              <a:t>strict-VUS rows in the curated pro-set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188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707070"/>
                </a:solidFill>
                <a:latin typeface="Calibri"/>
              </a:rPr>
              <a:t>Four task definitions used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645920"/>
            <a:ext cx="493776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000000"/>
                </a:solidFill>
                <a:latin typeface="Georgia"/>
              </a:rPr>
              <a:t>4-class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400" b="0" i="0">
                <a:solidFill>
                  <a:srgbClr val="707070"/>
                </a:solidFill>
                <a:latin typeface="Calibri"/>
              </a:rPr>
              <a:t>original ClinVar label space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000000"/>
                </a:solidFill>
                <a:latin typeface="Georgia"/>
              </a:rPr>
              <a:t>2-class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400" b="0" i="0">
                <a:solidFill>
                  <a:srgbClr val="707070"/>
                </a:solidFill>
                <a:latin typeface="Calibri"/>
              </a:rPr>
              <a:t>Likely-* collapsed into definitive labels → 10,936 / 10,936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000000"/>
                </a:solidFill>
                <a:latin typeface="Georgia"/>
              </a:rPr>
              <a:t>3-class (with VUS)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400" b="0" i="0">
                <a:solidFill>
                  <a:srgbClr val="707070"/>
                </a:solidFill>
                <a:latin typeface="Calibri"/>
              </a:rPr>
              <a:t>Benign-side / Pathogenic-side / VUS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000000"/>
                </a:solidFill>
                <a:latin typeface="Georgia"/>
              </a:rPr>
              <a:t>5-class (with VUS)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707070"/>
                </a:solidFill>
                <a:latin typeface="Calibri"/>
              </a:rPr>
              <a:t>all four ClinVar labels + VUS — essentially balanced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Label balance —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5,468 rows per ClinVar class in the 4-class space; 10,936 / 10,936 in the 2-class collapse. Any class-imbalance effect is gone by construction.</a:t>
            </a:r>
          </a:p>
        </p:txBody>
      </p:sp>
      <p:pic>
        <p:nvPicPr>
          <p:cNvPr id="4" name="Picture 3" descr="lab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332720" cy="3757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Missingness across the 777-column raw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Per-column missing fraction. Everything above the 50% threshold is dropped during preprocessing — 134 columns lost that way. 208 numerical features survive.</a:t>
            </a:r>
          </a:p>
        </p:txBody>
      </p:sp>
      <p:pic>
        <p:nvPicPr>
          <p:cNvPr id="4" name="Picture 3" descr="missingness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828800"/>
            <a:ext cx="84124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Do the predictor scores actually separate classes?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Boxplots of headline VEP scores stratified by the 4-class label. DITTO, MetaRNN, REVEL, AlphaMissense all separate cleanly; gnomAD AF runs the other way — high frequency means benign (the ACMG BS1 rule).</a:t>
            </a:r>
          </a:p>
        </p:txBody>
      </p:sp>
      <p:pic>
        <p:nvPicPr>
          <p:cNvPr id="4" name="Picture 3" descr="key_vep_scores_by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1920240"/>
            <a:ext cx="52578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707070"/>
                </a:solidFill>
                <a:latin typeface="Calibri"/>
              </a:rPr>
              <a:t>Model suite — 10 estimators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  <a:latin typeface="Calibri"/>
              </a:rPr>
              <a:t>Classical / linear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KNN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NearestCentroid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CosineSimilarity (custom)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DecisionTree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LDA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QDA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LinearSVC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RidgeClassifier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SGDClassifier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  <a:latin typeface="Calibri"/>
              </a:rPr>
              <a:t>Ensembles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HistGradientBoosting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707070"/>
                </a:solidFill>
                <a:latin typeface="Calibri"/>
              </a:rPr>
              <a:t>Evaluation regimes — 5 cuts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Canonical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64592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stratified 80/20 holdout + 5-fold 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Augmented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8600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+ 196 k-mer + 10 BLAST locus-neighbour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Gene-stratified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9260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no gene appears in both train and test folds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661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No-VEP / VUS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5661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drop every learned-predictor + conservation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Raw-only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062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keep only population AF, position, sequence 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RANDOM_STATE = 42 throughout. Per-model grid-search tuning by 5-fold CV macro-F1 on the training portion; tuning performed on the 4-class task, hyperparameters carried over to the binary task.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Headline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07070"/>
                </a:solidFill>
                <a:latin typeface="Calibri"/>
              </a:rPr>
              <a:t>4-class macro-F1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000000"/>
                </a:solidFill>
                <a:latin typeface="Georgia"/>
              </a:rPr>
              <a:t>0.795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07070"/>
                </a:solidFill>
                <a:latin typeface="Calibri"/>
              </a:rPr>
              <a:t>HistGradientBoosting · 21,872 variants · 208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07070"/>
                </a:solidFill>
                <a:latin typeface="Calibri"/>
              </a:rPr>
              <a:t>2-class macro-F1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000000"/>
                </a:solidFill>
                <a:latin typeface="Georgia"/>
              </a:rPr>
              <a:t>0.987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07070"/>
                </a:solidFill>
                <a:latin typeface="Calibri"/>
              </a:rPr>
              <a:t>HistGradientBoosting · 10,936 / 10,936 collapse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3474720"/>
          <a:ext cx="110642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Where the error lives — 4-class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Held-out, row-normalized. Definitive Benign / Pathogenic call near-perfect (&gt;0.93 / 0.79). Residual difficulty is the Pathogenic ↔ Likely-pathogenic boundary.</a:t>
            </a:r>
          </a:p>
        </p:txBody>
      </p:sp>
      <p:pic>
        <p:nvPicPr>
          <p:cNvPr id="4" name="Picture 3" descr="histgb_4class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28800"/>
            <a:ext cx="5486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Stress tests — bounding the data-circularity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707070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marL="137160" marR="137160" marT="54864" marB="54864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707070"/>
                          </a:solidFill>
                          <a:latin typeface="Calibri"/>
                        </a:rPr>
                        <a:t>4-class F1</a:t>
                      </a:r>
                    </a:p>
                  </a:txBody>
                  <a:tcPr marL="137160" marR="137160" marT="54864" marB="54864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707070"/>
                          </a:solidFill>
                          <a:latin typeface="Calibri"/>
                        </a:rPr>
                        <a:t>2-class F1</a:t>
                      </a:r>
                    </a:p>
                  </a:txBody>
                  <a:tcPr marL="137160" marR="137160" marT="54864" marB="54864">
                    <a:solidFill>
                      <a:srgbClr val="E8E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Canonical tuned (headline)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0.795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Augmented (k-mer + BLAST)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0.795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0.990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Gene-stratified CV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0.766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No-VEP, k-fold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0.773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0.976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No-VEP, gene-stratified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Raw-only (no predictor, no conservation)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0.721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DITTO removed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0.791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202020"/>
                </a:solidFill>
                <a:latin typeface="Calibri"/>
              </a:rPr>
              <a:t>Graceful degradation across regimes: HistGB loses 0.027 to gene-stratified CV, 0.022 to no-VEP, 0.074 to raw-only. The 2-class task is essentially insensitive to all stresses.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Real VUS deployment — per-gene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Top-20 most-frequent genes in the 5,468-variant pro-set, stacked by 4-class prediction. GCK 100%, PAH 99%, MYH7 90%, LDLR 84% pathogenic-side.</a:t>
            </a:r>
          </a:p>
        </p:txBody>
      </p:sp>
      <p:pic>
        <p:nvPicPr>
          <p:cNvPr id="4" name="Picture 3" descr="vus_per_gene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162" y="1828800"/>
            <a:ext cx="4909195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VUS deployment — the four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Applying the tuned HistGradientBoosting to 5,468 strict-VUS variants annotated through the same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Georgia"/>
              </a:rPr>
              <a:t>62% / 38%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04040"/>
                </a:solidFill>
                <a:latin typeface="Calibri"/>
              </a:rPr>
              <a:t>pathogenic-side / benign-side split on 2-class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Georgia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92608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04040"/>
                </a:solidFill>
                <a:latin typeface="Calibri"/>
              </a:rPr>
              <a:t>of predictions have max probability &gt; 0.9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Georgia"/>
              </a:rPr>
              <a:t>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04040"/>
                </a:solidFill>
                <a:latin typeface="Calibri"/>
              </a:rPr>
              <a:t>of 4-class predictions hedge into Likely-* — only 13% definitive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Georgia"/>
              </a:rPr>
              <a:t>95.4%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9496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04040"/>
                </a:solidFill>
                <a:latin typeface="Calibri"/>
              </a:rPr>
              <a:t>cross-task agreement (4-class collapsed vs. 2-class head)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VUS as a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707070"/>
                </a:solidFill>
                <a:latin typeface="Calibri"/>
              </a:rPr>
              <a:t>With VUS added as a labelled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  <a:latin typeface="Calibri"/>
              </a:rPr>
              <a:t>2-class no-VUS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00000"/>
                </a:solidFill>
                <a:latin typeface="Georgia"/>
              </a:rPr>
              <a:t>0.987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  <a:latin typeface="Calibri"/>
              </a:rPr>
              <a:t>3-class with VUS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4028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00000"/>
                </a:solidFill>
                <a:latin typeface="Georgia"/>
              </a:rPr>
              <a:t>0.946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  <a:latin typeface="Calibri"/>
              </a:rPr>
              <a:t>4-class no-VUS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00000"/>
                </a:solidFill>
                <a:latin typeface="Georgia"/>
              </a:rPr>
              <a:t>0.795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  <a:latin typeface="Calibri"/>
              </a:rPr>
              <a:t>5-class with VUS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290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000000"/>
                </a:solidFill>
                <a:latin typeface="Georgia"/>
              </a:rPr>
              <a:t>0.798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02020"/>
                </a:solidFill>
                <a:latin typeface="Calibri"/>
              </a:rPr>
              <a:t>Adding VUS as a 5th class does NOT hurt overall macro-F1 — it slightly improves it. MCC improves by +0.022.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00800" y="1188720"/>
          <a:ext cx="5486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55778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02020"/>
                </a:solidFill>
                <a:latin typeface="Calibri"/>
              </a:rPr>
              <a:t>VUS reaches F1 = 0.901 — between Benign and Likely-benign in difficulty. One of the cleanest classes to recognise.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5-class confusion matrix — where VUS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Held-out, row-normalized. VUS row reaches 0.94 diagonal — cleaner than Pathogenic (0.64) or Likely-pathogenic (0.61). VUS misclassifications hedge into Likely-*, not into definitive calls.</a:t>
            </a:r>
          </a:p>
        </p:txBody>
      </p:sp>
      <p:pic>
        <p:nvPicPr>
          <p:cNvPr id="4" name="Picture 3" descr="histgradientboosting_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28800"/>
            <a:ext cx="5486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What drives the booster — SHAP top-30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Canonical 4-class HistGradientBoosting. DITTO leads, MetaRNN second, then population allele frequencies — the model is using both predictor scores and frequency data.</a:t>
            </a:r>
          </a:p>
        </p:txBody>
      </p:sp>
      <p:pic>
        <p:nvPicPr>
          <p:cNvPr id="4" name="Picture 3" descr="shap_bar_4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760" y="1828800"/>
            <a:ext cx="4064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Predictor correlation — the redundancy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Pearson correlation among key VEP scores + gnomAD AF. Predictor scores form a tight cluster; gnomAD AF sits in its own corner — the structural reason predictors substitute for each other, but population AF does not.</a:t>
            </a:r>
          </a:p>
        </p:txBody>
      </p:sp>
      <p:pic>
        <p:nvPicPr>
          <p:cNvPr id="4" name="Picture 3" descr="key_vep_sco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2860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Useful vs. waste — feature ablation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554480"/>
                <a:gridCol w="1554480"/>
                <a:gridCol w="1554480"/>
                <a:gridCol w="155448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91440" marR="91440"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4-class</a:t>
                      </a:r>
                    </a:p>
                  </a:txBody>
                  <a:tcPr marL="91440" marR="91440"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2-class</a:t>
                      </a:r>
                    </a:p>
                  </a:txBody>
                  <a:tcPr marL="91440" marR="91440"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5-class</a:t>
                      </a:r>
                    </a:p>
                  </a:txBody>
                  <a:tcPr marL="91440" marR="91440"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3-class</a:t>
                      </a:r>
                    </a:p>
                  </a:txBody>
                  <a:tcPr marL="91440" marR="91440"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n feat</a:t>
                      </a:r>
                    </a:p>
                  </a:txBody>
                  <a:tcPr marL="91440" marR="91440" marT="27432" marB="27432">
                    <a:solidFill>
                      <a:srgbClr val="E8E8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population_af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+0.0471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+0.0025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+0.0405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+0.0054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-0.0012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+0.0266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+0.0469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other_vep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+0.0133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+0.0137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+0.0073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cadd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-0.0054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-0.0001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-0.0015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ditto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+0.0039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+0.0046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+0.0033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metarnn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+0.0014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+0.0045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bayesdel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-0.0045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-0.0003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-0.0044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+0.0018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+0.0029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revel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-0.0018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-0.0044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-0.0015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chasmplus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+0.0026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+0.0011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+0.0028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alphamissense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-0.0015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-0.0028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-0.0017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conservation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+0.0018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-0.0007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+0.0000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Greyed rows: HistGB |Δ| &lt; 0.005 across every task. 8 of 12 groups (97 of 208 features) are waste at the group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Per-feature permutation — the redundancy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02020"/>
                </a:solidFill>
                <a:latin typeface="Calibri"/>
              </a:rPr>
              <a:t>Removing a 'waste' group is cheap — but individual features inside those groups are still highly predictive. Group LOO measures replaceability, not informativeness.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Georgia"/>
              </a:rPr>
              <a:t>ditto_score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Georgia"/>
              </a:rPr>
              <a:t>0.133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07070"/>
                </a:solidFill>
                <a:latin typeface="Calibri"/>
              </a:rPr>
              <a:t>individual macro-F1 weight (4-class)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Georgia"/>
              </a:rPr>
              <a:t>metarnn_score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Georgia"/>
              </a:rPr>
              <a:t>0.048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07070"/>
                </a:solidFill>
                <a:latin typeface="Calibri"/>
              </a:rPr>
              <a:t>individual macro-F1 weight (4-class)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02020"/>
                </a:solidFill>
                <a:latin typeface="Calibri"/>
              </a:rPr>
              <a:t>Inter-predictor redundancy. Remove DITTO and MetaRNN compensates; remove MetaRNN and DITTO compensates. Only by removing several correlated meta-classifiers together does the redundancy buffer collapse — which is what Lean B exploits.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Lean B — 45% smaller, 0.012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707070"/>
                </a:solidFill>
                <a:latin typeface="Calibri"/>
              </a:rPr>
              <a:t>Lean B drops 95 of 208 features, keeping ditto_score and metarnn_score (the per-feature winners).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828800"/>
          <a:ext cx="110642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202020"/>
                </a:solidFill>
                <a:latin typeface="Calibri"/>
              </a:rPr>
              <a:t>At most 0.012 macro-F1 cost on any task. Several models (KNN, NearestCentroid, CosineSimilarity) actually improve on the lean subset.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Cross-database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replicate Lean B numbers on HGMD or a held-out ClinVar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True homology BLAST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blastp on UniRef50 with the amino-acid substitution applied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Probability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37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Platt or isotonic regression so predict_proba is a usable risk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Gene-stratified VUS-as-class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14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test whether VUS-detection survives without same-gene 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Variant-level error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manual review of the Pathogenic ↔ Likely-pathogenic confusion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0"/>
            <a:ext cx="2743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000000"/>
                </a:solidFill>
                <a:latin typeface="Georg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1">
                <a:solidFill>
                  <a:srgbClr val="202020"/>
                </a:solidFill>
                <a:latin typeface="Georg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alibri"/>
              </a:rPr>
              <a:t>Doruk Topcu  ·  Alihan Sağöz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07070"/>
                </a:solidFill>
                <a:latin typeface="Calibri"/>
              </a:rPr>
              <a:t>github.com/doruktopcu/MissVarPath-Missense-Detection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