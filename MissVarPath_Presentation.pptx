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4-class macro-F1</c:v>
                </c:pt>
              </c:strCache>
            </c:strRef>
          </c:tx>
          <c:spPr>
            <a:solidFill>
              <a:srgbClr val="202020"/>
            </a:solidFill>
            <a:ln w="9525">
              <a:solidFill>
                <a:srgbClr val="202020"/>
              </a:solidFill>
            </a:ln>
          </c:spPr>
          <c:cat>
            <c:strRef>
              <c:f>Sheet1!$A$2:$A$8</c:f>
              <c:strCache>
                <c:ptCount val="7"/>
                <c:pt idx="0">
                  <c:v>KNN</c:v>
                </c:pt>
                <c:pt idx="1">
                  <c:v>RidgeClassifier</c:v>
                </c:pt>
                <c:pt idx="2">
                  <c:v>LDA</c:v>
                </c:pt>
                <c:pt idx="3">
                  <c:v>SGDClassifier</c:v>
                </c:pt>
                <c:pt idx="4">
                  <c:v>DecisionTree</c:v>
                </c:pt>
                <c:pt idx="5">
                  <c:v>LinearSVC</c:v>
                </c:pt>
                <c:pt idx="6">
                  <c:v>HistGradientBoosting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0.6597909745251019</c:v>
                </c:pt>
                <c:pt idx="1">
                  <c:v>0.7003232293438628</c:v>
                </c:pt>
                <c:pt idx="2">
                  <c:v>0.702199015949549</c:v>
                </c:pt>
                <c:pt idx="3">
                  <c:v>0.7182084960604684</c:v>
                </c:pt>
                <c:pt idx="4">
                  <c:v>0.7514090067859782</c:v>
                </c:pt>
                <c:pt idx="5">
                  <c:v>0.754933552727006</c:v>
                </c:pt>
                <c:pt idx="6">
                  <c:v>0.7950392616951822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00">
                  <a:solidFill>
                    <a:srgbClr val="20202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40404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5"/>
          <c:min val="0.5"/>
        </c:scaling>
        <c:delete val="0"/>
        <c:axPos val="b"/>
        <c:majorGridlines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40404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Per-class F1 (5-class HistGB)</c:v>
                </c:pt>
              </c:strCache>
            </c:strRef>
          </c:tx>
          <c:spPr>
            <a:solidFill>
              <a:srgbClr val="202020"/>
            </a:solidFill>
            <a:ln w="9525">
              <a:solidFill>
                <a:srgbClr val="202020"/>
              </a:solidFill>
            </a:ln>
          </c:spPr>
          <c:cat>
            <c:strRef>
              <c:f>Sheet1!$A$2:$A$6</c:f>
              <c:strCache>
                <c:ptCount val="5"/>
                <c:pt idx="0">
                  <c:v>Benign</c:v>
                </c:pt>
                <c:pt idx="1">
                  <c:v>Likely benign</c:v>
                </c:pt>
                <c:pt idx="2">
                  <c:v>Likely pathogenic</c:v>
                </c:pt>
                <c:pt idx="3">
                  <c:v>Pathogenic</c:v>
                </c:pt>
                <c:pt idx="4">
                  <c:v>VUS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0.929</c:v>
                </c:pt>
                <c:pt idx="1">
                  <c:v>0.894</c:v>
                </c:pt>
                <c:pt idx="2">
                  <c:v>0.622</c:v>
                </c:pt>
                <c:pt idx="3">
                  <c:v>0.646</c:v>
                </c:pt>
                <c:pt idx="4">
                  <c:v>0.901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00">
                  <a:solidFill>
                    <a:srgbClr val="20202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40404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5"/>
        </c:scaling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40404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(208 features)</c:v>
                </c:pt>
              </c:strCache>
            </c:strRef>
          </c:tx>
          <c:spPr>
            <a:solidFill>
              <a:srgbClr val="000000"/>
            </a:solidFill>
            <a:ln w="9525">
              <a:solidFill>
                <a:srgbClr val="202020"/>
              </a:solidFill>
            </a:ln>
          </c:spPr>
          <c:cat>
            <c:strRef>
              <c:f>Sheet1!$A$2:$A$5</c:f>
              <c:strCache>
                <c:ptCount val="4"/>
                <c:pt idx="0">
                  <c:v>2-class</c:v>
                </c:pt>
                <c:pt idx="1">
                  <c:v>3-class</c:v>
                </c:pt>
                <c:pt idx="2">
                  <c:v>4-class</c:v>
                </c:pt>
                <c:pt idx="3">
                  <c:v>5-class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0.9872</c:v>
                </c:pt>
                <c:pt idx="1">
                  <c:v>0.9459</c:v>
                </c:pt>
                <c:pt idx="2">
                  <c:v>0.795</c:v>
                </c:pt>
                <c:pt idx="3">
                  <c:v>0.7984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Lean B (113 features)</c:v>
                </c:pt>
              </c:strCache>
            </c:strRef>
          </c:tx>
          <c:spPr>
            <a:solidFill>
              <a:srgbClr val="BFBFBF"/>
            </a:solidFill>
            <a:ln w="9525">
              <a:solidFill>
                <a:srgbClr val="202020"/>
              </a:solidFill>
            </a:ln>
          </c:spPr>
          <c:cat>
            <c:strRef>
              <c:f>Sheet1!$A$2:$A$5</c:f>
              <c:strCache>
                <c:ptCount val="4"/>
                <c:pt idx="0">
                  <c:v>2-class</c:v>
                </c:pt>
                <c:pt idx="1">
                  <c:v>3-class</c:v>
                </c:pt>
                <c:pt idx="2">
                  <c:v>4-class</c:v>
                </c:pt>
                <c:pt idx="3">
                  <c:v>5-class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0.9863</c:v>
                </c:pt>
                <c:pt idx="1">
                  <c:v>0.9386</c:v>
                </c:pt>
                <c:pt idx="2">
                  <c:v>0.79</c:v>
                </c:pt>
                <c:pt idx="3">
                  <c:v>0.7867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900">
                  <a:solidFill>
                    <a:srgbClr val="40404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40404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5"/>
          <c:min val="0.5"/>
        </c:scaling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40404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40404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0"/>
            <a:ext cx="2743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707070"/>
                </a:solidFill>
                <a:latin typeface="Calibri"/>
              </a:rPr>
              <a:t>CMP682 —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000000"/>
                </a:solidFill>
                <a:latin typeface="Georgia"/>
              </a:rPr>
              <a:t>MissVARPath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566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1">
                <a:solidFill>
                  <a:srgbClr val="202020"/>
                </a:solidFill>
                <a:latin typeface="Georgia"/>
              </a:rPr>
              <a:t>Missense Variant Pathogenicity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120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alibri"/>
              </a:rPr>
              <a:t>Doruk Topcu  ·  Alihan Sağöz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5321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07070"/>
                </a:solidFill>
                <a:latin typeface="Calibri"/>
              </a:rPr>
              <a:t>Hacettepe University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Georgia"/>
              </a:rPr>
              <a:t>Three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Every missense variant goes through a battery of in-silico predictors — PolyPhen-2, SIFT, REVEL, CADD, AlphaMissense, DITTO. Each disagrees with the others; most were trained on overlapping ClinVar data — the same database we use to label our targets.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31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000000"/>
                </a:solidFill>
                <a:latin typeface="Georgia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3347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202020"/>
                </a:solidFill>
                <a:latin typeface="Calibri"/>
              </a:rPr>
              <a:t>Can a meta-classifier do better than any single predictor by combining them?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11880"/>
            <a:ext cx="731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000000"/>
                </a:solidFill>
                <a:latin typeface="Georgia"/>
              </a:rP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7647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202020"/>
                </a:solidFill>
                <a:latin typeface="Calibri"/>
              </a:rPr>
              <a:t>How much of any improvement is data-circularity — predictors trained on ClinVar, evaluated on ClinVar?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731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000000"/>
                </a:solidFill>
                <a:latin typeface="Georgia"/>
              </a:rP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91947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202020"/>
                </a:solidFill>
                <a:latin typeface="Calibri"/>
              </a:rPr>
              <a:t>Can we predict pathogenicity from raw data alone — without using any pre-existing predictor's score?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07070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Georgia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48640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6000" b="1" i="0">
                <a:solidFill>
                  <a:srgbClr val="000000"/>
                </a:solidFill>
                <a:latin typeface="Georgia"/>
              </a:rPr>
              <a:t>21,872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1300" b="0" i="0">
                <a:solidFill>
                  <a:srgbClr val="707070"/>
                </a:solidFill>
                <a:latin typeface="Calibri"/>
              </a:rPr>
              <a:t>ClinVar / OpenCRAVAT missense variants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 i="0">
                <a:solidFill>
                  <a:srgbClr val="000000"/>
                </a:solidFill>
                <a:latin typeface="Georgia"/>
              </a:rPr>
              <a:t>5,468  ×  4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1300" b="0" i="0">
                <a:solidFill>
                  <a:srgbClr val="707070"/>
                </a:solidFill>
                <a:latin typeface="Calibri"/>
              </a:rPr>
              <a:t>perfectly balanced 4-class (Benign / Likely-benign / Likely-pathogenic / Pathogenic)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 i="0">
                <a:solidFill>
                  <a:srgbClr val="000000"/>
                </a:solidFill>
                <a:latin typeface="Georgia"/>
              </a:rPr>
              <a:t>777  →  208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1300" b="0" i="0">
                <a:solidFill>
                  <a:srgbClr val="707070"/>
                </a:solidFill>
                <a:latin typeface="Calibri"/>
              </a:rPr>
              <a:t>raw schema → numerical features after preprocessing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 i="0">
                <a:solidFill>
                  <a:srgbClr val="000000"/>
                </a:solidFill>
                <a:latin typeface="Georgia"/>
              </a:rPr>
              <a:t>5,428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707070"/>
                </a:solidFill>
                <a:latin typeface="Calibri"/>
              </a:rPr>
              <a:t>strict-VUS rows in the curated pro-set (clinvar__sig = “Uncertain significance”)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18872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Two task 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645920"/>
            <a:ext cx="530352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000000"/>
                </a:solidFill>
                <a:latin typeface="Georgia"/>
              </a:rPr>
              <a:t>4-class</a:t>
            </a:r>
          </a:p>
          <a:p>
            <a:pPr algn="l">
              <a:lnSpc>
                <a:spcPct val="115000"/>
              </a:lnSpc>
              <a:spcAft>
                <a:spcPts val="2800"/>
              </a:spcAft>
            </a:pPr>
            <a:r>
              <a:rPr sz="1200" b="0" i="0">
                <a:solidFill>
                  <a:srgbClr val="707070"/>
                </a:solidFill>
                <a:latin typeface="Calibri"/>
              </a:rPr>
              <a:t>the original ClinVar label space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000000"/>
                </a:solidFill>
                <a:latin typeface="Georgia"/>
              </a:rPr>
              <a:t>2-class</a:t>
            </a:r>
          </a:p>
          <a:p>
            <a:pPr algn="l">
              <a:lnSpc>
                <a:spcPct val="115000"/>
              </a:lnSpc>
              <a:spcAft>
                <a:spcPts val="2800"/>
              </a:spcAft>
            </a:pPr>
            <a:r>
              <a:rPr sz="1200" b="0" i="0">
                <a:solidFill>
                  <a:srgbClr val="707070"/>
                </a:solidFill>
                <a:latin typeface="Calibri"/>
              </a:rPr>
              <a:t>Likely-* collapsed into definitive labels → 10,936 / 10,936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000000"/>
                </a:solidFill>
                <a:latin typeface="Georgia"/>
              </a:rPr>
              <a:t>3-class (with VUS)</a:t>
            </a:r>
          </a:p>
          <a:p>
            <a:pPr algn="l">
              <a:lnSpc>
                <a:spcPct val="115000"/>
              </a:lnSpc>
              <a:spcAft>
                <a:spcPts val="2800"/>
              </a:spcAft>
            </a:pPr>
            <a:r>
              <a:rPr sz="1200" b="0" i="0">
                <a:solidFill>
                  <a:srgbClr val="707070"/>
                </a:solidFill>
                <a:latin typeface="Calibri"/>
              </a:rPr>
              <a:t>Benign-side / Pathogenic-side / VUS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000000"/>
                </a:solidFill>
                <a:latin typeface="Georgia"/>
              </a:rPr>
              <a:t>5-class (with VUS)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707070"/>
                </a:solidFill>
                <a:latin typeface="Calibri"/>
              </a:rPr>
              <a:t>all four ClinVar labels + VUS — essentially balanced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07070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Georgia"/>
              </a:rPr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07070"/>
                </a:solidFill>
                <a:latin typeface="Calibri"/>
              </a:rPr>
              <a:t>Model suite — 11 estimators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202020"/>
                </a:solidFill>
                <a:latin typeface="Calibri"/>
              </a:rPr>
              <a:t>Classical / linear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KNN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NearestCentroid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CosineSimilarity (custom)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DecisionTree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LDA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QDA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LinearSVC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RidgeClassifier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SGDClassifier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202020"/>
                </a:solidFill>
                <a:latin typeface="Calibri"/>
              </a:rPr>
              <a:t>Ensembles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AdaBoost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HistGradientBoosting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0972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07070"/>
                </a:solidFill>
                <a:latin typeface="Calibri"/>
              </a:rPr>
              <a:t>Evaluation regimes — 5 cuts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6459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02020"/>
                </a:solidFill>
                <a:latin typeface="Calibri"/>
              </a:rPr>
              <a:t>Canonical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64592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04040"/>
                </a:solidFill>
                <a:latin typeface="Calibri"/>
              </a:rPr>
              <a:t>stratified 80/20 holdout + 5-fold CV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488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02020"/>
                </a:solidFill>
                <a:latin typeface="Calibri"/>
              </a:rPr>
              <a:t>Augmented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14884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04040"/>
                </a:solidFill>
                <a:latin typeface="Calibri"/>
              </a:rPr>
              <a:t>+ 196 k-mer + 10 BLAST locus-neighbour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6517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02020"/>
                </a:solidFill>
                <a:latin typeface="Calibri"/>
              </a:rPr>
              <a:t>Gene-stratified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65176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04040"/>
                </a:solidFill>
                <a:latin typeface="Calibri"/>
              </a:rPr>
              <a:t>no gene appears in both train and test folds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1546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02020"/>
                </a:solidFill>
                <a:latin typeface="Calibri"/>
              </a:rPr>
              <a:t>No-VEP / VUS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15468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04040"/>
                </a:solidFill>
                <a:latin typeface="Calibri"/>
              </a:rPr>
              <a:t>drop every learned-predictor + conservation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6576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02020"/>
                </a:solidFill>
                <a:latin typeface="Calibri"/>
              </a:rPr>
              <a:t>Raw-only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65760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04040"/>
                </a:solidFill>
                <a:latin typeface="Calibri"/>
              </a:rPr>
              <a:t>keep only population AF, position, sequence composition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07070"/>
                </a:solidFill>
                <a:latin typeface="Calibri"/>
              </a:rPr>
              <a:t>RANDOM_STATE = 42 throughout. Per-model grid-search tuning by 5-fold CV macro-F1 on the training portion; AdaBoost grid stopped at combo 23/27 (compute budget).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07070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Georgia"/>
              </a:rPr>
              <a:t>Headline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4-class macro-F1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Georgia"/>
              </a:rPr>
              <a:t>0.795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803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  <a:latin typeface="Calibri"/>
              </a:rPr>
              <a:t>HistGradientBoosting · 21,872 variants · 208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2-class macro-F1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Georgia"/>
              </a:rPr>
              <a:t>0.987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8803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  <a:latin typeface="Calibri"/>
              </a:rPr>
              <a:t>HistGradientBoosting · 10,936 / 10,936 collapse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3200400"/>
          <a:ext cx="1106424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07070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Georgia"/>
              </a:rPr>
              <a:t>Stress tests — bounding the data-circularity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/>
                <a:gridCol w="210312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707070"/>
                          </a:solidFill>
                          <a:latin typeface="Calibri"/>
                        </a:rPr>
                        <a:t>Regime</a:t>
                      </a:r>
                    </a:p>
                  </a:txBody>
                  <a:tcPr marL="109728" marR="109728" marT="36576" marB="36576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707070"/>
                          </a:solidFill>
                          <a:latin typeface="Calibri"/>
                        </a:rPr>
                        <a:t>4-class F1</a:t>
                      </a:r>
                    </a:p>
                  </a:txBody>
                  <a:tcPr marL="109728" marR="109728" marT="36576" marB="36576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707070"/>
                          </a:solidFill>
                          <a:latin typeface="Calibri"/>
                        </a:rPr>
                        <a:t>2-class F1</a:t>
                      </a:r>
                    </a:p>
                  </a:txBody>
                  <a:tcPr marL="109728" marR="109728" marT="36576" marB="36576">
                    <a:solidFill>
                      <a:srgbClr val="E8E8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Canonical tuned (headline)</a:t>
                      </a:r>
                    </a:p>
                  </a:txBody>
                  <a:tcPr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0.795</a:t>
                      </a:r>
                    </a:p>
                  </a:txBody>
                  <a:tcPr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0.987</a:t>
                      </a:r>
                    </a:p>
                  </a:txBody>
                  <a:tcPr marL="109728" marR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Augmented (k-mer + BLAST)</a:t>
                      </a:r>
                    </a:p>
                  </a:txBody>
                  <a:tcPr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0.795</a:t>
                      </a:r>
                    </a:p>
                  </a:txBody>
                  <a:tcPr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0.990</a:t>
                      </a:r>
                    </a:p>
                  </a:txBody>
                  <a:tcPr marL="109728" marR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Gene-stratified CV</a:t>
                      </a:r>
                    </a:p>
                  </a:txBody>
                  <a:tcPr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0.766</a:t>
                      </a:r>
                    </a:p>
                  </a:txBody>
                  <a:tcPr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0.987</a:t>
                      </a:r>
                    </a:p>
                  </a:txBody>
                  <a:tcPr marL="109728" marR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No-VEP, k-fold</a:t>
                      </a:r>
                    </a:p>
                  </a:txBody>
                  <a:tcPr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0.773</a:t>
                      </a:r>
                    </a:p>
                  </a:txBody>
                  <a:tcPr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0.976</a:t>
                      </a:r>
                    </a:p>
                  </a:txBody>
                  <a:tcPr marL="109728" marR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No-VEP, gene-stratified</a:t>
                      </a:r>
                    </a:p>
                  </a:txBody>
                  <a:tcPr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0.761</a:t>
                      </a:r>
                    </a:p>
                  </a:txBody>
                  <a:tcPr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Raw-only (no predictor, no conservation)</a:t>
                      </a:r>
                    </a:p>
                  </a:txBody>
                  <a:tcPr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0.721</a:t>
                      </a:r>
                    </a:p>
                  </a:txBody>
                  <a:tcPr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0.934</a:t>
                      </a:r>
                    </a:p>
                  </a:txBody>
                  <a:tcPr marL="109728" marR="109728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DITTO removed</a:t>
                      </a:r>
                    </a:p>
                  </a:txBody>
                  <a:tcPr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0.791</a:t>
                      </a:r>
                    </a:p>
                  </a:txBody>
                  <a:tcPr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10972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202020"/>
                </a:solidFill>
                <a:latin typeface="Calibri"/>
              </a:rPr>
              <a:t>Graceful degradation across regimes: HistGB loses 0.027 to gene-stratified CV, 0.022 to no-VEP, 0.074 to raw-only. The 2-class task is essentially insensitive to all stresses — that's the operationally-deployable headline.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07070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Georgia"/>
              </a:rPr>
              <a:t>Real VUS deployment</a:t>
            </a:r>
          </a:p>
        </p:txBody>
      </p:sp>
      <p:pic>
        <p:nvPicPr>
          <p:cNvPr id="3" name="Picture 2" descr="vus_per_gene_pre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94944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18872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07070"/>
                </a:solidFill>
                <a:latin typeface="Calibri"/>
              </a:rPr>
              <a:t>On the 5,468 strict-VUS pro-set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4114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Georgia"/>
              </a:rPr>
              <a:t>62% / 38%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1031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04040"/>
                </a:solidFill>
                <a:latin typeface="Calibri"/>
              </a:rPr>
              <a:t>pathogenic-side / benign-side split on 2-class 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633472"/>
            <a:ext cx="4114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Georgia"/>
              </a:rPr>
              <a:t>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18211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04040"/>
                </a:solidFill>
                <a:latin typeface="Calibri"/>
              </a:rPr>
              <a:t>of predictions have max probability &gt; 0.9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712464"/>
            <a:ext cx="4114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Georgia"/>
              </a:rPr>
              <a:t>87%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261104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04040"/>
                </a:solidFill>
                <a:latin typeface="Calibri"/>
              </a:rPr>
              <a:t>of 4-class predictions hedge into Likely-* — only 13% definitive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791456"/>
            <a:ext cx="4114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Georgia"/>
              </a:rPr>
              <a:t>95.4%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340096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04040"/>
                </a:solidFill>
                <a:latin typeface="Calibri"/>
              </a:rPr>
              <a:t>cross-task agreement (4-class collapsed vs. 2-class head)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202020"/>
                </a:solidFill>
                <a:latin typeface="Calibri"/>
              </a:rPr>
              <a:t>GCK 100% · PAH 99% · MYH7 90% · LDLR 84% — clinically sensible per-gene priors that the model could only have learned indirectly through gene-correlated features.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07070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Georgia"/>
              </a:rPr>
              <a:t>VUS as a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With VUS added as a labelled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2-class no-VUS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5544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Georgia"/>
              </a:rPr>
              <a:t>0.987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3-class with VUS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0574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Georgia"/>
              </a:rPr>
              <a:t>0.946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4-class no-VUS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5603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Georgia"/>
              </a:rPr>
              <a:t>0.795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5-class with VUS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06324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Georgia"/>
              </a:rPr>
              <a:t>0.798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202020"/>
                </a:solidFill>
                <a:latin typeface="Calibri"/>
              </a:rPr>
              <a:t>Adding VUS as a 5th class does NOT hurt overall macro-F1 — it slightly improves it. MCC improves by +0.022.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400800" y="118872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00800" y="548640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02020"/>
                </a:solidFill>
                <a:latin typeface="Calibri"/>
              </a:rPr>
              <a:t>VUS reaches F1 = 0.901 — between Benign and Likely-benign in difficulty. One of the cleanest classes to recognise.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07070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Georgia"/>
              </a:rPr>
              <a:t>Useful vs. waste — feature ablation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768096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1097280"/>
                <a:gridCol w="1097280"/>
                <a:gridCol w="109728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73152" marR="73152" marT="18288" marB="18288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4-class</a:t>
                      </a:r>
                    </a:p>
                  </a:txBody>
                  <a:tcPr marL="73152" marR="73152" marT="18288" marB="18288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2-class</a:t>
                      </a:r>
                    </a:p>
                  </a:txBody>
                  <a:tcPr marL="73152" marR="73152" marT="18288" marB="18288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5-class</a:t>
                      </a:r>
                    </a:p>
                  </a:txBody>
                  <a:tcPr marL="73152" marR="73152" marT="18288" marB="18288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3-class</a:t>
                      </a:r>
                    </a:p>
                  </a:txBody>
                  <a:tcPr marL="73152" marR="73152" marT="18288" marB="18288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n feat</a:t>
                      </a:r>
                    </a:p>
                  </a:txBody>
                  <a:tcPr marL="73152" marR="73152" marT="18288" marB="18288">
                    <a:solidFill>
                      <a:srgbClr val="E8E8E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population_af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+0.0471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+0.0025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+0.0405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+0.0054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functional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-0.0012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-0.0005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+0.0266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+0.0469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other_vep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+0.0133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-0.0002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+0.0137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+0.0073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cadd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-0.0054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-0.0005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-0.0001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-0.0015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ditto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+0.0039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+0.0046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+0.0001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+0.0033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metarnn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+0.0014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+0.0005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+0.0045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+0.0005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bayesdel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-0.0045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-0.0002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-0.0004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-0.0003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-0.0044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+0.0002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+0.0018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+0.0029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revel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-0.0018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+0.0005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-0.0044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-0.0015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chasmplus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+0.0026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+0.0011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+0.0028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-0.0002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alphamissense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-0.0015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+0.0005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-0.0028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-0.0017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conservation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+0.0018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-0.0007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-0.0001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+0.0000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70707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39496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707070"/>
                </a:solidFill>
                <a:latin typeface="Calibri"/>
              </a:rPr>
              <a:t>Greyed rows: HistGB |Δ| &lt; 0.005 across every task. 8 of 12 groups (97 of 208 features) are waste at the group level.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0972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07070"/>
                </a:solidFill>
                <a:latin typeface="Calibri"/>
              </a:rPr>
              <a:t>But — Phase B per-feature permutation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463040"/>
            <a:ext cx="32918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000000"/>
                </a:solidFill>
                <a:latin typeface="Georgia"/>
              </a:rPr>
              <a:t>ditto_score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100" b="0" i="0">
                <a:solidFill>
                  <a:srgbClr val="707070"/>
                </a:solidFill>
                <a:latin typeface="Calibri"/>
              </a:rPr>
              <a:t>0.133 individual macro-F1 weight (4-class)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000000"/>
                </a:solidFill>
                <a:latin typeface="Georgia"/>
              </a:rPr>
              <a:t>metarnn_score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100" b="0" i="0">
                <a:solidFill>
                  <a:srgbClr val="707070"/>
                </a:solidFill>
                <a:latin typeface="Calibri"/>
              </a:rPr>
              <a:t>0.048 individual macro-F1 weight (4-class)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202020"/>
                </a:solidFill>
                <a:latin typeface="Calibri"/>
              </a:rPr>
              <a:t>The resolution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404040"/>
                </a:solidFill>
                <a:latin typeface="Calibri"/>
              </a:rPr>
              <a:t>Inter-predictor redundancy. Remove DITTO and MetaRNN compensates; remove MetaRNN and DITTO compensates. Group LOO measures replaceability, not informativeness.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07070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Georgia"/>
              </a:rPr>
              <a:t>Lean B &amp; 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Lean B — drop 95 of 208 features (45%), keep ditto_score + metarnn_score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554480"/>
          <a:ext cx="67665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94360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202020"/>
                </a:solidFill>
                <a:latin typeface="Calibri"/>
              </a:rPr>
              <a:t>At most 0.012 macro-F1 cost on any task. Several models actually improve.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109728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07070"/>
                </a:solidFill>
                <a:latin typeface="Calibri"/>
              </a:rPr>
              <a:t>Future directions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55448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·  Cross-database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0" y="1828800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04040"/>
                </a:solidFill>
                <a:latin typeface="Calibri"/>
              </a:rPr>
              <a:t>replicate on HGMD or a held-out ClinVar 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39572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·  True homology BLAST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670048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04040"/>
                </a:solidFill>
                <a:latin typeface="Calibri"/>
              </a:rPr>
              <a:t>blastp on UniRef50 with the AA substitution applied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236976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·  Probability calibration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3511296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04040"/>
                </a:solidFill>
                <a:latin typeface="Calibri"/>
              </a:rPr>
              <a:t>Platt / isotonic for usable risk scores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07822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·  Gene-stratified VUS-as-class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4352544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04040"/>
                </a:solidFill>
                <a:latin typeface="Calibri"/>
              </a:rPr>
              <a:t>test whether VUS-detection survives without same-gene leakage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91947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·  Variant-level error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5193792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04040"/>
                </a:solidFill>
                <a:latin typeface="Calibri"/>
              </a:rPr>
              <a:t>manual review of LP↔P confusion region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07070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